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webp" ContentType="image/webp"/>
  <Override PartName="/ppt/media/image39.webp" ContentType="image/webp"/>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handoutMasterIdLst>
    <p:handoutMasterId r:id="rId12"/>
  </p:handoutMasterIdLst>
  <p:sldIdLst>
    <p:sldId id="256" r:id="rId3"/>
    <p:sldId id="257" r:id="rId5"/>
    <p:sldId id="258" r:id="rId6"/>
    <p:sldId id="259" r:id="rId7"/>
    <p:sldId id="260" r:id="rId8"/>
    <p:sldId id="261" r:id="rId9"/>
    <p:sldId id="262" r:id="rId10"/>
    <p:sldId id="263" r:id="rId11"/>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tableStyles" Target="tableStyles.xml"/><Relationship Id="rId14" Type="http://schemas.openxmlformats.org/officeDocument/2006/relationships/viewProps" Target="viewProps.xml"/><Relationship Id="rId13" Type="http://schemas.openxmlformats.org/officeDocument/2006/relationships/presProps" Target="presProps.xml"/><Relationship Id="rId12" Type="http://schemas.openxmlformats.org/officeDocument/2006/relationships/handoutMaster" Target="handoutMasters/handoutMaster1.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7576"/>
          </a:xfrm>
          <a:prstGeom prst="rect">
            <a:avLst/>
          </a:prstGeom>
        </p:spPr>
        <p:txBody>
          <a:bodyPr vert="horz" lIns="91440" tIns="45720" rIns="91440" bIns="45720" rtlCol="0"/>
          <a:lstStyle>
            <a:lvl1pPr algn="l">
              <a:defRPr sz="1800"/>
            </a:lvl1pPr>
          </a:lstStyle>
          <a:p>
            <a:endParaRPr lang="en-US">
              <a:latin typeface="HP Simplified Hans" panose="020B0500000000000000" charset="-122"/>
            </a:endParaRPr>
          </a:p>
        </p:txBody>
      </p:sp>
      <p:sp>
        <p:nvSpPr>
          <p:cNvPr id="3" name="Date Placeholder 2"/>
          <p:cNvSpPr>
            <a:spLocks noGrp="1"/>
          </p:cNvSpPr>
          <p:nvPr>
            <p:ph type="dt" sz="quarter" idx="1"/>
          </p:nvPr>
        </p:nvSpPr>
        <p:spPr>
          <a:xfrm>
            <a:off x="5826920" y="0"/>
            <a:ext cx="4457700" cy="917576"/>
          </a:xfrm>
          <a:prstGeom prst="rect">
            <a:avLst/>
          </a:prstGeom>
        </p:spPr>
        <p:txBody>
          <a:bodyPr vert="horz" lIns="91440" tIns="45720" rIns="91440" bIns="45720" rtlCol="0"/>
          <a:lstStyle>
            <a:lvl1pPr algn="r">
              <a:defRPr sz="1800"/>
            </a:lvl1pPr>
          </a:lstStyle>
          <a:p>
            <a:fld id="{696C064A-D61B-4B21-B757-51A9B82445B8}" type="datetimeFigureOut">
              <a:rPr lang="en-US" smtClean="0">
                <a:latin typeface="HP Simplified Hans" panose="020B0500000000000000" charset="-122"/>
              </a:rPr>
            </a:fld>
            <a:endParaRPr lang="en-US">
              <a:latin typeface="HP Simplified Hans" panose="020B0500000000000000" charset="-122"/>
            </a:endParaRPr>
          </a:p>
        </p:txBody>
      </p:sp>
      <p:sp>
        <p:nvSpPr>
          <p:cNvPr id="4" name="Footer Placeholder 3"/>
          <p:cNvSpPr>
            <a:spLocks noGrp="1"/>
          </p:cNvSpPr>
          <p:nvPr>
            <p:ph type="ftr" sz="quarter" idx="2"/>
          </p:nvPr>
        </p:nvSpPr>
        <p:spPr>
          <a:xfrm>
            <a:off x="0" y="17370426"/>
            <a:ext cx="4457700" cy="917574"/>
          </a:xfrm>
          <a:prstGeom prst="rect">
            <a:avLst/>
          </a:prstGeom>
        </p:spPr>
        <p:txBody>
          <a:bodyPr vert="horz" lIns="91440" tIns="45720" rIns="91440" bIns="45720" rtlCol="0" anchor="b"/>
          <a:lstStyle>
            <a:lvl1pPr algn="l">
              <a:defRPr sz="1800"/>
            </a:lvl1pPr>
          </a:lstStyle>
          <a:p>
            <a:endParaRPr lang="en-US">
              <a:latin typeface="HP Simplified Hans" panose="020B0500000000000000" charset="-122"/>
            </a:endParaRPr>
          </a:p>
        </p:txBody>
      </p:sp>
      <p:sp>
        <p:nvSpPr>
          <p:cNvPr id="5" name="Slide Number Placeholder 4"/>
          <p:cNvSpPr>
            <a:spLocks noGrp="1"/>
          </p:cNvSpPr>
          <p:nvPr>
            <p:ph type="sldNum" sz="quarter" idx="3"/>
          </p:nvPr>
        </p:nvSpPr>
        <p:spPr>
          <a:xfrm>
            <a:off x="5826920" y="17370426"/>
            <a:ext cx="4457700" cy="917574"/>
          </a:xfrm>
          <a:prstGeom prst="rect">
            <a:avLst/>
          </a:prstGeom>
        </p:spPr>
        <p:txBody>
          <a:bodyPr vert="horz" lIns="91440" tIns="45720" rIns="91440" bIns="45720" rtlCol="0" anchor="b"/>
          <a:lstStyle>
            <a:lvl1pPr algn="r">
              <a:defRPr sz="1800"/>
            </a:lvl1pPr>
          </a:lstStyle>
          <a:p>
            <a:fld id="{50305E07-67EA-4042-A3F6-853A8AD8D209}" type="slidenum">
              <a:rPr lang="en-US" smtClean="0">
                <a:latin typeface="HP Simplified Hans" panose="020B0500000000000000" charset="-122"/>
              </a:rPr>
            </a:fld>
            <a:endParaRPr lang="en-US">
              <a:latin typeface="HP Simplified Hans" panose="020B0500000000000000" charset="-122"/>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HP Simplified Hans" panose="020B0500000000000000" charset="-122"/>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HP Simplified Hans" panose="020B0500000000000000" charset="-122"/>
              </a:defRPr>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HP Simplified Hans" panose="020B0500000000000000" charset="-122"/>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HP Simplified Hans" panose="020B0500000000000000" charset="-122"/>
              </a:defRPr>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HP Simplified Hans" panose="020B0500000000000000" charset="-122"/>
        <a:ea typeface="+mn-ea"/>
        <a:cs typeface="+mn-cs"/>
      </a:defRPr>
    </a:lvl1pPr>
    <a:lvl2pPr marL="457200" algn="l" defTabSz="914400" rtl="0" eaLnBrk="1" latinLnBrk="0" hangingPunct="1">
      <a:defRPr sz="1200" kern="1200">
        <a:solidFill>
          <a:schemeClr val="tx1"/>
        </a:solidFill>
        <a:latin typeface="HP Simplified Hans" panose="020B0500000000000000" charset="-122"/>
        <a:ea typeface="+mn-ea"/>
        <a:cs typeface="+mn-cs"/>
      </a:defRPr>
    </a:lvl2pPr>
    <a:lvl3pPr marL="914400" algn="l" defTabSz="914400" rtl="0" eaLnBrk="1" latinLnBrk="0" hangingPunct="1">
      <a:defRPr sz="1200" kern="1200">
        <a:solidFill>
          <a:schemeClr val="tx1"/>
        </a:solidFill>
        <a:latin typeface="HP Simplified Hans" panose="020B0500000000000000" charset="-122"/>
        <a:ea typeface="+mn-ea"/>
        <a:cs typeface="+mn-cs"/>
      </a:defRPr>
    </a:lvl3pPr>
    <a:lvl4pPr marL="1371600" algn="l" defTabSz="914400" rtl="0" eaLnBrk="1" latinLnBrk="0" hangingPunct="1">
      <a:defRPr sz="1200" kern="1200">
        <a:solidFill>
          <a:schemeClr val="tx1"/>
        </a:solidFill>
        <a:latin typeface="HP Simplified Hans" panose="020B0500000000000000" charset="-122"/>
        <a:ea typeface="+mn-ea"/>
        <a:cs typeface="+mn-cs"/>
      </a:defRPr>
    </a:lvl4pPr>
    <a:lvl5pPr marL="1828800" algn="l" defTabSz="914400" rtl="0" eaLnBrk="1" latinLnBrk="0" hangingPunct="1">
      <a:defRPr sz="1200" kern="1200">
        <a:solidFill>
          <a:schemeClr val="tx1"/>
        </a:solidFill>
        <a:latin typeface="HP Simplified Hans" panose="020B0500000000000000" charset="-122"/>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webp"/></Relationships>
</file>

<file path=ppt/slides/_rels/slide2.xml.rels><?xml version="1.0" encoding="UTF-8" standalone="yes"?>
<Relationships xmlns="http://schemas.openxmlformats.org/package/2006/relationships"><Relationship Id="rId9" Type="http://schemas.openxmlformats.org/officeDocument/2006/relationships/image" Target="../media/image13.png"/><Relationship Id="rId8" Type="http://schemas.openxmlformats.org/officeDocument/2006/relationships/image" Target="../media/image12.png"/><Relationship Id="rId7" Type="http://schemas.openxmlformats.org/officeDocument/2006/relationships/image" Target="../media/image11.png"/><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1" Type="http://schemas.openxmlformats.org/officeDocument/2006/relationships/notesSlide" Target="../notesSlides/notesSlide2.xml"/><Relationship Id="rId10" Type="http://schemas.openxmlformats.org/officeDocument/2006/relationships/slideLayout" Target="../slideLayouts/slideLayout1.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1.xml"/><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6.png"/></Relationships>
</file>

<file path=ppt/slides/_rels/slide4.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3.png"/><Relationship Id="rId7" Type="http://schemas.openxmlformats.org/officeDocument/2006/relationships/image" Target="../media/image22.png"/><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3" Type="http://schemas.openxmlformats.org/officeDocument/2006/relationships/image" Target="../media/image18.png"/><Relationship Id="rId2" Type="http://schemas.openxmlformats.org/officeDocument/2006/relationships/image" Target="../media/image17.png"/><Relationship Id="rId10" Type="http://schemas.openxmlformats.org/officeDocument/2006/relationships/notesSlide" Target="../notesSlides/notesSlide4.xml"/><Relationship Id="rId1" Type="http://schemas.openxmlformats.org/officeDocument/2006/relationships/image" Target="../media/image6.png"/></Relationships>
</file>

<file path=ppt/slides/_rels/slide5.xml.rels><?xml version="1.0" encoding="UTF-8" standalone="yes"?>
<Relationships xmlns="http://schemas.openxmlformats.org/package/2006/relationships"><Relationship Id="rId9" Type="http://schemas.openxmlformats.org/officeDocument/2006/relationships/image" Target="../media/image30.png"/><Relationship Id="rId8" Type="http://schemas.openxmlformats.org/officeDocument/2006/relationships/image" Target="../media/image29.png"/><Relationship Id="rId7" Type="http://schemas.openxmlformats.org/officeDocument/2006/relationships/image" Target="../media/image28.png"/><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 Id="rId3" Type="http://schemas.openxmlformats.org/officeDocument/2006/relationships/image" Target="../media/image24.png"/><Relationship Id="rId2" Type="http://schemas.openxmlformats.org/officeDocument/2006/relationships/hyperlink" Target="https://Risk = (0.25 &#215; Temp + 0.20 &#215; Vibration + 0.20 &#215; PD       + 0.15 &#215; Oil + 0.10 &#215; Weather + 0.10 &#215; Incidents)       &#215; age_factor &#215; load_factor" TargetMode="External"/><Relationship Id="rId11" Type="http://schemas.openxmlformats.org/officeDocument/2006/relationships/notesSlide" Target="../notesSlides/notesSlide5.xml"/><Relationship Id="rId10" Type="http://schemas.openxmlformats.org/officeDocument/2006/relationships/slideLayout" Target="../slideLayouts/slideLayout1.xml"/><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9" Type="http://schemas.openxmlformats.org/officeDocument/2006/relationships/notesSlide" Target="../notesSlides/notesSlide6.xml"/><Relationship Id="rId8" Type="http://schemas.openxmlformats.org/officeDocument/2006/relationships/slideLayout" Target="../slideLayouts/slideLayout1.xml"/><Relationship Id="rId7" Type="http://schemas.openxmlformats.org/officeDocument/2006/relationships/image" Target="../media/image36.png"/><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xml"/><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8" Type="http://schemas.openxmlformats.org/officeDocument/2006/relationships/notesSlide" Target="../notesSlides/notesSlide8.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43.png"/><Relationship Id="rId4" Type="http://schemas.openxmlformats.org/officeDocument/2006/relationships/image" Target="../media/image42.png"/><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image" Target="../media/image39.web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906000" y="0"/>
            <a:ext cx="8382000" cy="10287000"/>
          </a:xfrm>
          <a:prstGeom prst="rect">
            <a:avLst/>
          </a:prstGeom>
        </p:spPr>
      </p:pic>
      <p:pic>
        <p:nvPicPr>
          <p:cNvPr id="3" name="Image 1" descr="preencoded.png"/>
          <p:cNvPicPr>
            <a:picLocks noChangeAspect="1"/>
          </p:cNvPicPr>
          <p:nvPr/>
        </p:nvPicPr>
        <p:blipFill>
          <a:blip r:embed="rId2">
            <a:alphaModFix amt="55000"/>
          </a:blip>
          <a:stretch>
            <a:fillRect/>
          </a:stretch>
        </p:blipFill>
        <p:spPr>
          <a:xfrm>
            <a:off x="9906000" y="0"/>
            <a:ext cx="4000500" cy="10287000"/>
          </a:xfrm>
          <a:prstGeom prst="rect">
            <a:avLst/>
          </a:prstGeom>
        </p:spPr>
      </p:pic>
      <p:pic>
        <p:nvPicPr>
          <p:cNvPr id="4" name="Image 2" descr="preencoded.png"/>
          <p:cNvPicPr>
            <a:picLocks noChangeAspect="1"/>
          </p:cNvPicPr>
          <p:nvPr/>
        </p:nvPicPr>
        <p:blipFill>
          <a:blip r:embed="rId3"/>
          <a:stretch>
            <a:fillRect/>
          </a:stretch>
        </p:blipFill>
        <p:spPr>
          <a:xfrm>
            <a:off x="0" y="0"/>
            <a:ext cx="171450" cy="10287000"/>
          </a:xfrm>
          <a:prstGeom prst="rect">
            <a:avLst/>
          </a:prstGeom>
        </p:spPr>
      </p:pic>
      <p:sp>
        <p:nvSpPr>
          <p:cNvPr id="5" name="Text 0"/>
          <p:cNvSpPr/>
          <p:nvPr/>
        </p:nvSpPr>
        <p:spPr>
          <a:xfrm>
            <a:off x="1047750" y="1428750"/>
            <a:ext cx="4000500" cy="571500"/>
          </a:xfrm>
          <a:prstGeom prst="rect">
            <a:avLst/>
          </a:prstGeom>
          <a:noFill/>
        </p:spPr>
        <p:txBody>
          <a:bodyPr wrap="square" rtlCol="0" anchor="ctr"/>
          <a:lstStyle/>
          <a:p>
            <a:pPr marL="0" indent="0" algn="l">
              <a:buNone/>
            </a:pPr>
            <a:r>
              <a:rPr lang="en-US" sz="1500" b="1" dirty="0">
                <a:solidFill>
                  <a:srgbClr val="0F62FE"/>
                </a:solidFill>
                <a:latin typeface="Arial" panose="020B0604020202020204" pitchFamily="34" charset="0"/>
                <a:ea typeface="Inter" pitchFamily="34" charset="-122"/>
                <a:cs typeface="Arial" panose="020B0604020202020204" pitchFamily="34" charset="0"/>
              </a:rPr>
              <a:t>I</a:t>
            </a:r>
            <a:r>
              <a:rPr lang="en-US" sz="1500" b="1" dirty="0">
                <a:solidFill>
                  <a:srgbClr val="0F62FE"/>
                </a:solidFill>
                <a:latin typeface="Arial" panose="020B0604020202020204" pitchFamily="34" charset="0"/>
                <a:ea typeface="Inter" pitchFamily="34" charset="-122"/>
                <a:cs typeface="Arial" panose="020B0604020202020204" pitchFamily="34" charset="0"/>
              </a:rPr>
              <a:t>BM BOB AI HACKATHON 2026  //  TRACK: AI</a:t>
            </a:r>
            <a:endParaRPr lang="en-US" sz="1500" dirty="0">
              <a:latin typeface="Arial" panose="020B0604020202020204" pitchFamily="34" charset="0"/>
              <a:cs typeface="Arial" panose="020B0604020202020204" pitchFamily="34" charset="0"/>
            </a:endParaRPr>
          </a:p>
        </p:txBody>
      </p:sp>
      <p:sp>
        <p:nvSpPr>
          <p:cNvPr id="6" name="Text 1"/>
          <p:cNvSpPr/>
          <p:nvPr/>
        </p:nvSpPr>
        <p:spPr>
          <a:xfrm>
            <a:off x="1028700" y="2286000"/>
            <a:ext cx="7810500" cy="3028950"/>
          </a:xfrm>
          <a:prstGeom prst="rect">
            <a:avLst/>
          </a:prstGeom>
          <a:noFill/>
        </p:spPr>
        <p:txBody>
          <a:bodyPr wrap="square" rtlCol="0" anchor="ctr"/>
          <a:lstStyle/>
          <a:p>
            <a:pPr marL="0" indent="0" algn="l">
              <a:lnSpc>
                <a:spcPct val="102000"/>
              </a:lnSpc>
              <a:buNone/>
            </a:pPr>
            <a:r>
              <a:rPr lang="en-US" sz="5850" b="1" dirty="0">
                <a:solidFill>
                  <a:srgbClr val="001D6C"/>
                </a:solidFill>
                <a:latin typeface="Arial" panose="020B0604020202020204" pitchFamily="34" charset="0"/>
                <a:ea typeface="Inter" pitchFamily="34" charset="-122"/>
                <a:cs typeface="Arial" panose="020B0604020202020204" pitchFamily="34" charset="0"/>
              </a:rPr>
              <a:t>Power Outage Prediction &amp; Grid Equipment Failure Advisor</a:t>
            </a:r>
            <a:endParaRPr lang="en-US" sz="5850" b="1" dirty="0">
              <a:solidFill>
                <a:srgbClr val="001D6C"/>
              </a:solidFill>
              <a:latin typeface="Arial" panose="020B0604020202020204" pitchFamily="34" charset="0"/>
              <a:ea typeface="Inter" pitchFamily="34" charset="-122"/>
              <a:cs typeface="Arial" panose="020B0604020202020204" pitchFamily="34" charset="0"/>
            </a:endParaRPr>
          </a:p>
        </p:txBody>
      </p:sp>
      <p:pic>
        <p:nvPicPr>
          <p:cNvPr id="7" name="Image 3" descr="preencoded.png"/>
          <p:cNvPicPr>
            <a:picLocks noChangeAspect="1"/>
          </p:cNvPicPr>
          <p:nvPr/>
        </p:nvPicPr>
        <p:blipFill>
          <a:blip r:embed="rId4"/>
          <a:stretch>
            <a:fillRect/>
          </a:stretch>
        </p:blipFill>
        <p:spPr>
          <a:xfrm>
            <a:off x="1066800" y="6191250"/>
            <a:ext cx="857250" cy="57150"/>
          </a:xfrm>
          <a:prstGeom prst="rect">
            <a:avLst/>
          </a:prstGeom>
        </p:spPr>
      </p:pic>
      <p:sp>
        <p:nvSpPr>
          <p:cNvPr id="8" name="Text 2"/>
          <p:cNvSpPr/>
          <p:nvPr/>
        </p:nvSpPr>
        <p:spPr>
          <a:xfrm>
            <a:off x="1047750" y="6477000"/>
            <a:ext cx="7429500" cy="428625"/>
          </a:xfrm>
          <a:prstGeom prst="rect">
            <a:avLst/>
          </a:prstGeom>
          <a:noFill/>
        </p:spPr>
        <p:txBody>
          <a:bodyPr wrap="square" rtlCol="0" anchor="ctr"/>
          <a:lstStyle/>
          <a:p>
            <a:pPr marL="0" indent="0" algn="l">
              <a:buNone/>
            </a:pPr>
            <a:r>
              <a:rPr lang="en-US" sz="2250" i="1" dirty="0">
                <a:solidFill>
                  <a:srgbClr val="21272A"/>
                </a:solidFill>
                <a:latin typeface="Arial" panose="020B0604020202020204" pitchFamily="34" charset="0"/>
                <a:ea typeface="Inter" pitchFamily="34" charset="-122"/>
                <a:cs typeface="Arial" panose="020B0604020202020204" pitchFamily="34" charset="0"/>
              </a:rPr>
              <a:t>Predicting failures before the lights go out.</a:t>
            </a:r>
            <a:endParaRPr lang="en-US" sz="2250" dirty="0">
              <a:latin typeface="Arial" panose="020B0604020202020204" pitchFamily="34" charset="0"/>
              <a:cs typeface="Arial" panose="020B0604020202020204" pitchFamily="34" charset="0"/>
            </a:endParaRPr>
          </a:p>
        </p:txBody>
      </p:sp>
      <p:sp>
        <p:nvSpPr>
          <p:cNvPr id="9" name="Text 3"/>
          <p:cNvSpPr/>
          <p:nvPr/>
        </p:nvSpPr>
        <p:spPr>
          <a:xfrm>
            <a:off x="1047750" y="7905750"/>
            <a:ext cx="4000500" cy="314325"/>
          </a:xfrm>
          <a:prstGeom prst="rect">
            <a:avLst/>
          </a:prstGeom>
          <a:noFill/>
        </p:spPr>
        <p:txBody>
          <a:bodyPr wrap="square" rtlCol="0" anchor="ctr"/>
          <a:lstStyle/>
          <a:p>
            <a:pPr marL="0" indent="0" algn="l">
              <a:buNone/>
            </a:pPr>
            <a:r>
              <a:rPr lang="en-US" sz="1650" b="1" dirty="0">
                <a:solidFill>
                  <a:srgbClr val="0F62FE"/>
                </a:solidFill>
                <a:latin typeface="Arial" panose="020B0604020202020204" pitchFamily="34" charset="0"/>
                <a:ea typeface="Inter" pitchFamily="34" charset="-122"/>
                <a:cs typeface="Arial" panose="020B0604020202020204" pitchFamily="34" charset="0"/>
              </a:rPr>
              <a:t>TEAM SyntaxX</a:t>
            </a:r>
            <a:endParaRPr lang="en-US" sz="1650" dirty="0">
              <a:latin typeface="Arial" panose="020B0604020202020204" pitchFamily="34" charset="0"/>
              <a:cs typeface="Arial" panose="020B0604020202020204" pitchFamily="34" charset="0"/>
            </a:endParaRPr>
          </a:p>
        </p:txBody>
      </p:sp>
      <p:sp>
        <p:nvSpPr>
          <p:cNvPr id="10" name="Text 4"/>
          <p:cNvSpPr/>
          <p:nvPr/>
        </p:nvSpPr>
        <p:spPr>
          <a:xfrm>
            <a:off x="1047750" y="8305800"/>
            <a:ext cx="7810500" cy="638175"/>
          </a:xfrm>
          <a:prstGeom prst="rect">
            <a:avLst/>
          </a:prstGeom>
          <a:noFill/>
        </p:spPr>
        <p:txBody>
          <a:bodyPr wrap="square" rtlCol="0" anchor="ctr"/>
          <a:lstStyle/>
          <a:p>
            <a:pPr marL="0" indent="0" algn="l">
              <a:lnSpc>
                <a:spcPct val="140000"/>
              </a:lnSpc>
              <a:buNone/>
            </a:pPr>
            <a:r>
              <a:rPr lang="en-US" sz="1800" dirty="0">
                <a:solidFill>
                  <a:srgbClr val="21272A"/>
                </a:solidFill>
                <a:latin typeface="Arial" panose="020B0604020202020204" pitchFamily="34" charset="0"/>
                <a:ea typeface="Inter" pitchFamily="34" charset="-122"/>
                <a:cs typeface="Arial" panose="020B0604020202020204" pitchFamily="34" charset="0"/>
              </a:rPr>
              <a:t>Team Lead: Anshi Ladani</a:t>
            </a:r>
            <a:endParaRPr lang="en-US" sz="1800" dirty="0">
              <a:latin typeface="Arial" panose="020B0604020202020204" pitchFamily="34" charset="0"/>
              <a:cs typeface="Arial" panose="020B0604020202020204" pitchFamily="34" charset="0"/>
            </a:endParaRPr>
          </a:p>
          <a:p>
            <a:pPr marL="0" indent="0" algn="l">
              <a:lnSpc>
                <a:spcPct val="140000"/>
              </a:lnSpc>
              <a:buNone/>
            </a:pPr>
            <a:r>
              <a:rPr lang="en-US" sz="1800" dirty="0">
                <a:solidFill>
                  <a:srgbClr val="21272A"/>
                </a:solidFill>
                <a:latin typeface="Arial" panose="020B0604020202020204" pitchFamily="34" charset="0"/>
                <a:ea typeface="Inter" pitchFamily="34" charset="-122"/>
                <a:cs typeface="Arial" panose="020B0604020202020204" pitchFamily="34" charset="0"/>
              </a:rPr>
              <a:t>Members: Aemi Patel · Suyanshi Patel · Drashti Patel</a:t>
            </a:r>
            <a:endParaRPr lang="en-US" sz="1800"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0" y="0"/>
            <a:ext cx="18288000" cy="1333500"/>
          </a:xfrm>
          <a:prstGeom prst="rect">
            <a:avLst/>
          </a:prstGeom>
        </p:spPr>
      </p:pic>
      <p:pic>
        <p:nvPicPr>
          <p:cNvPr id="3" name="Image 1" descr="preencoded.png"/>
          <p:cNvPicPr>
            <a:picLocks noChangeAspect="1"/>
          </p:cNvPicPr>
          <p:nvPr/>
        </p:nvPicPr>
        <p:blipFill>
          <a:blip r:embed="rId2"/>
          <a:stretch>
            <a:fillRect/>
          </a:stretch>
        </p:blipFill>
        <p:spPr>
          <a:xfrm>
            <a:off x="1047750" y="571500"/>
            <a:ext cx="95250" cy="476250"/>
          </a:xfrm>
          <a:prstGeom prst="rect">
            <a:avLst/>
          </a:prstGeom>
        </p:spPr>
      </p:pic>
      <p:sp>
        <p:nvSpPr>
          <p:cNvPr id="4" name="Text 0"/>
          <p:cNvSpPr/>
          <p:nvPr/>
        </p:nvSpPr>
        <p:spPr>
          <a:xfrm>
            <a:off x="1333500" y="428625"/>
            <a:ext cx="5715000" cy="285750"/>
          </a:xfrm>
          <a:prstGeom prst="rect">
            <a:avLst/>
          </a:prstGeom>
          <a:noFill/>
        </p:spPr>
        <p:txBody>
          <a:bodyPr wrap="square" rtlCol="0" anchor="ctr"/>
          <a:lstStyle/>
          <a:p>
            <a:pPr marL="0" indent="0" algn="l">
              <a:buNone/>
            </a:pPr>
            <a:r>
              <a:rPr lang="en-US" sz="1500" b="1" dirty="0">
                <a:solidFill>
                  <a:srgbClr val="0F62FE"/>
                </a:solidFill>
                <a:latin typeface="Arial" panose="020B0604020202020204" pitchFamily="34" charset="0"/>
                <a:ea typeface="Inter" pitchFamily="34" charset="-122"/>
                <a:cs typeface="Arial" panose="020B0604020202020204" pitchFamily="34" charset="0"/>
              </a:rPr>
              <a:t>01  /  THE PROBLEM</a:t>
            </a:r>
            <a:endParaRPr lang="en-US" sz="1500" dirty="0">
              <a:latin typeface="Arial" panose="020B0604020202020204" pitchFamily="34" charset="0"/>
              <a:cs typeface="Arial" panose="020B0604020202020204" pitchFamily="34" charset="0"/>
            </a:endParaRPr>
          </a:p>
        </p:txBody>
      </p:sp>
      <p:sp>
        <p:nvSpPr>
          <p:cNvPr id="5" name="Text 1"/>
          <p:cNvSpPr/>
          <p:nvPr/>
        </p:nvSpPr>
        <p:spPr>
          <a:xfrm>
            <a:off x="1333500" y="714375"/>
            <a:ext cx="14763750" cy="571500"/>
          </a:xfrm>
          <a:prstGeom prst="rect">
            <a:avLst/>
          </a:prstGeom>
          <a:noFill/>
        </p:spPr>
        <p:txBody>
          <a:bodyPr wrap="square" rtlCol="0" anchor="ctr"/>
          <a:lstStyle/>
          <a:p>
            <a:pPr marL="0" indent="0" algn="l">
              <a:buNone/>
            </a:pPr>
            <a:r>
              <a:rPr lang="en-US" sz="3000" b="1" dirty="0">
                <a:solidFill>
                  <a:srgbClr val="001D6C"/>
                </a:solidFill>
                <a:latin typeface="Arial" panose="020B0604020202020204" pitchFamily="34" charset="0"/>
                <a:ea typeface="Inter" pitchFamily="34" charset="-122"/>
                <a:cs typeface="Arial" panose="020B0604020202020204" pitchFamily="34" charset="0"/>
              </a:rPr>
              <a:t>Aging grid assets and reactive maintenance cause costly blackouts.</a:t>
            </a:r>
            <a:endParaRPr lang="en-US" sz="3000" dirty="0">
              <a:latin typeface="Arial" panose="020B0604020202020204" pitchFamily="34" charset="0"/>
              <a:cs typeface="Arial" panose="020B0604020202020204" pitchFamily="34" charset="0"/>
            </a:endParaRPr>
          </a:p>
        </p:txBody>
      </p:sp>
      <p:sp>
        <p:nvSpPr>
          <p:cNvPr id="6" name="Text 2"/>
          <p:cNvSpPr/>
          <p:nvPr/>
        </p:nvSpPr>
        <p:spPr>
          <a:xfrm>
            <a:off x="1047750" y="2095500"/>
            <a:ext cx="6667500" cy="257175"/>
          </a:xfrm>
          <a:prstGeom prst="rect">
            <a:avLst/>
          </a:prstGeom>
          <a:noFill/>
        </p:spPr>
        <p:txBody>
          <a:bodyPr wrap="square" rtlCol="0" anchor="ctr"/>
          <a:lstStyle/>
          <a:p>
            <a:pPr marL="0" indent="0" algn="l">
              <a:buNone/>
            </a:pPr>
            <a:r>
              <a:rPr lang="en-US" sz="1350" b="1" dirty="0">
                <a:solidFill>
                  <a:srgbClr val="697077"/>
                </a:solidFill>
                <a:latin typeface="Arial" panose="020B0604020202020204" pitchFamily="34" charset="0"/>
                <a:ea typeface="Inter" pitchFamily="34" charset="-122"/>
                <a:cs typeface="Arial" panose="020B0604020202020204" pitchFamily="34" charset="0"/>
              </a:rPr>
              <a:t>HOW SMALL SIGNALS BECOME OUTAGES</a:t>
            </a:r>
            <a:endParaRPr lang="en-US" sz="1350" dirty="0">
              <a:latin typeface="Arial" panose="020B0604020202020204" pitchFamily="34" charset="0"/>
              <a:cs typeface="Arial" panose="020B0604020202020204" pitchFamily="34" charset="0"/>
            </a:endParaRPr>
          </a:p>
        </p:txBody>
      </p:sp>
      <p:pic>
        <p:nvPicPr>
          <p:cNvPr id="7" name="Image 2" descr="preencoded.png"/>
          <p:cNvPicPr>
            <a:picLocks noChangeAspect="1"/>
          </p:cNvPicPr>
          <p:nvPr/>
        </p:nvPicPr>
        <p:blipFill>
          <a:blip r:embed="rId3"/>
          <a:stretch>
            <a:fillRect/>
          </a:stretch>
        </p:blipFill>
        <p:spPr>
          <a:xfrm>
            <a:off x="1047750" y="2571750"/>
            <a:ext cx="2857500" cy="1238250"/>
          </a:xfrm>
          <a:prstGeom prst="rect">
            <a:avLst/>
          </a:prstGeom>
        </p:spPr>
      </p:pic>
      <p:sp>
        <p:nvSpPr>
          <p:cNvPr id="8" name="Text 3"/>
          <p:cNvSpPr/>
          <p:nvPr/>
        </p:nvSpPr>
        <p:spPr>
          <a:xfrm>
            <a:off x="1238250" y="2857500"/>
            <a:ext cx="2476500" cy="476250"/>
          </a:xfrm>
          <a:prstGeom prst="rect">
            <a:avLst/>
          </a:prstGeom>
          <a:noFill/>
        </p:spPr>
        <p:txBody>
          <a:bodyPr wrap="square" rtlCol="0" anchor="ctr"/>
          <a:lstStyle/>
          <a:p>
            <a:pPr marL="0" indent="0" algn="ctr">
              <a:lnSpc>
                <a:spcPct val="120000"/>
              </a:lnSpc>
              <a:buNone/>
            </a:pPr>
            <a:r>
              <a:rPr lang="en-US" sz="1575" b="1" dirty="0">
                <a:solidFill>
                  <a:srgbClr val="161616"/>
                </a:solidFill>
                <a:latin typeface="Arial" panose="020B0604020202020204" pitchFamily="34" charset="0"/>
                <a:ea typeface="Inter" pitchFamily="34" charset="-122"/>
                <a:cs typeface="Arial" panose="020B0604020202020204" pitchFamily="34" charset="0"/>
              </a:rPr>
              <a:t>Sensor Data + Weather + Historical Incidents</a:t>
            </a:r>
            <a:endParaRPr lang="en-US" sz="1575" dirty="0">
              <a:latin typeface="Arial" panose="020B0604020202020204" pitchFamily="34" charset="0"/>
              <a:cs typeface="Arial" panose="020B0604020202020204" pitchFamily="34" charset="0"/>
            </a:endParaRPr>
          </a:p>
        </p:txBody>
      </p:sp>
      <p:sp>
        <p:nvSpPr>
          <p:cNvPr id="9" name="Text 4"/>
          <p:cNvSpPr/>
          <p:nvPr/>
        </p:nvSpPr>
        <p:spPr>
          <a:xfrm>
            <a:off x="3905250" y="3000375"/>
            <a:ext cx="476250" cy="485775"/>
          </a:xfrm>
          <a:prstGeom prst="rect">
            <a:avLst/>
          </a:prstGeom>
          <a:noFill/>
        </p:spPr>
        <p:txBody>
          <a:bodyPr wrap="square" rtlCol="0" anchor="ctr"/>
          <a:lstStyle/>
          <a:p>
            <a:pPr marL="0" indent="0" algn="ctr">
              <a:buNone/>
            </a:pPr>
            <a:r>
              <a:rPr lang="en-US" sz="2550" b="1" dirty="0">
                <a:solidFill>
                  <a:srgbClr val="0F62FE"/>
                </a:solidFill>
                <a:latin typeface="Inter" pitchFamily="34" charset="0"/>
                <a:ea typeface="Inter" pitchFamily="34" charset="-122"/>
                <a:cs typeface="Inter" pitchFamily="34" charset="-120"/>
              </a:rPr>
              <a:t>→</a:t>
            </a:r>
            <a:endParaRPr lang="en-US" sz="2550" dirty="0"/>
          </a:p>
        </p:txBody>
      </p:sp>
      <p:pic>
        <p:nvPicPr>
          <p:cNvPr id="10" name="Image 3" descr="preencoded.png"/>
          <p:cNvPicPr>
            <a:picLocks noChangeAspect="1"/>
          </p:cNvPicPr>
          <p:nvPr/>
        </p:nvPicPr>
        <p:blipFill>
          <a:blip r:embed="rId4"/>
          <a:stretch>
            <a:fillRect/>
          </a:stretch>
        </p:blipFill>
        <p:spPr>
          <a:xfrm>
            <a:off x="4476750" y="2571750"/>
            <a:ext cx="2190750" cy="1238250"/>
          </a:xfrm>
          <a:prstGeom prst="rect">
            <a:avLst/>
          </a:prstGeom>
        </p:spPr>
      </p:pic>
      <p:sp>
        <p:nvSpPr>
          <p:cNvPr id="11" name="Text 5"/>
          <p:cNvSpPr/>
          <p:nvPr/>
        </p:nvSpPr>
        <p:spPr>
          <a:xfrm>
            <a:off x="4619625" y="2905125"/>
            <a:ext cx="1905000" cy="504825"/>
          </a:xfrm>
          <a:prstGeom prst="rect">
            <a:avLst/>
          </a:prstGeom>
          <a:noFill/>
        </p:spPr>
        <p:txBody>
          <a:bodyPr wrap="square" rtlCol="0" anchor="ctr"/>
          <a:lstStyle/>
          <a:p>
            <a:pPr marL="0" indent="0" algn="ctr">
              <a:lnSpc>
                <a:spcPct val="120000"/>
              </a:lnSpc>
              <a:buNone/>
            </a:pPr>
            <a:r>
              <a:rPr lang="en-US" sz="1650" b="1" dirty="0">
                <a:solidFill>
                  <a:srgbClr val="161616"/>
                </a:solidFill>
                <a:latin typeface="Arial" panose="020B0604020202020204" pitchFamily="34" charset="0"/>
                <a:ea typeface="Inter" pitchFamily="34" charset="-122"/>
                <a:cs typeface="Arial" panose="020B0604020202020204" pitchFamily="34" charset="0"/>
              </a:rPr>
              <a:t>Disconnected Data</a:t>
            </a:r>
            <a:endParaRPr lang="en-US" sz="1650" dirty="0">
              <a:latin typeface="Arial" panose="020B0604020202020204" pitchFamily="34" charset="0"/>
              <a:cs typeface="Arial" panose="020B0604020202020204" pitchFamily="34" charset="0"/>
            </a:endParaRPr>
          </a:p>
        </p:txBody>
      </p:sp>
      <p:sp>
        <p:nvSpPr>
          <p:cNvPr id="12" name="Text 6"/>
          <p:cNvSpPr/>
          <p:nvPr/>
        </p:nvSpPr>
        <p:spPr>
          <a:xfrm>
            <a:off x="6667500" y="3000375"/>
            <a:ext cx="476250" cy="485775"/>
          </a:xfrm>
          <a:prstGeom prst="rect">
            <a:avLst/>
          </a:prstGeom>
          <a:noFill/>
        </p:spPr>
        <p:txBody>
          <a:bodyPr wrap="square" rtlCol="0" anchor="ctr"/>
          <a:lstStyle/>
          <a:p>
            <a:pPr marL="0" indent="0" algn="ctr">
              <a:buNone/>
            </a:pPr>
            <a:r>
              <a:rPr lang="en-US" sz="2550" b="1" dirty="0">
                <a:solidFill>
                  <a:srgbClr val="0F62FE"/>
                </a:solidFill>
                <a:latin typeface="Inter" pitchFamily="34" charset="0"/>
                <a:ea typeface="Inter" pitchFamily="34" charset="-122"/>
                <a:cs typeface="Inter" pitchFamily="34" charset="-120"/>
              </a:rPr>
              <a:t>→</a:t>
            </a:r>
            <a:endParaRPr lang="en-US" sz="2550" dirty="0"/>
          </a:p>
        </p:txBody>
      </p:sp>
      <p:pic>
        <p:nvPicPr>
          <p:cNvPr id="13" name="Image 4" descr="preencoded.png"/>
          <p:cNvPicPr>
            <a:picLocks noChangeAspect="1"/>
          </p:cNvPicPr>
          <p:nvPr/>
        </p:nvPicPr>
        <p:blipFill>
          <a:blip r:embed="rId5"/>
          <a:stretch>
            <a:fillRect/>
          </a:stretch>
        </p:blipFill>
        <p:spPr>
          <a:xfrm>
            <a:off x="7239000" y="2571750"/>
            <a:ext cx="2190750" cy="1238250"/>
          </a:xfrm>
          <a:prstGeom prst="rect">
            <a:avLst/>
          </a:prstGeom>
        </p:spPr>
      </p:pic>
      <p:sp>
        <p:nvSpPr>
          <p:cNvPr id="14" name="Text 7"/>
          <p:cNvSpPr/>
          <p:nvPr/>
        </p:nvSpPr>
        <p:spPr>
          <a:xfrm>
            <a:off x="7381875" y="3000375"/>
            <a:ext cx="1905000" cy="314325"/>
          </a:xfrm>
          <a:prstGeom prst="rect">
            <a:avLst/>
          </a:prstGeom>
          <a:noFill/>
        </p:spPr>
        <p:txBody>
          <a:bodyPr wrap="square" rtlCol="0" anchor="ctr"/>
          <a:lstStyle/>
          <a:p>
            <a:pPr marL="0" indent="0" algn="ctr">
              <a:buNone/>
            </a:pPr>
            <a:r>
              <a:rPr lang="en-US" sz="1650" b="1" dirty="0">
                <a:solidFill>
                  <a:srgbClr val="161616"/>
                </a:solidFill>
                <a:latin typeface="Arial" panose="020B0604020202020204" pitchFamily="34" charset="0"/>
                <a:ea typeface="Inter" pitchFamily="34" charset="-122"/>
                <a:cs typeface="Arial" panose="020B0604020202020204" pitchFamily="34" charset="0"/>
              </a:rPr>
              <a:t>Hidden Risk</a:t>
            </a:r>
            <a:endParaRPr lang="en-US" sz="1650" dirty="0">
              <a:latin typeface="Arial" panose="020B0604020202020204" pitchFamily="34" charset="0"/>
              <a:cs typeface="Arial" panose="020B0604020202020204" pitchFamily="34" charset="0"/>
            </a:endParaRPr>
          </a:p>
        </p:txBody>
      </p:sp>
      <p:sp>
        <p:nvSpPr>
          <p:cNvPr id="15" name="Text 8"/>
          <p:cNvSpPr/>
          <p:nvPr/>
        </p:nvSpPr>
        <p:spPr>
          <a:xfrm>
            <a:off x="9429750" y="3000375"/>
            <a:ext cx="476250" cy="485775"/>
          </a:xfrm>
          <a:prstGeom prst="rect">
            <a:avLst/>
          </a:prstGeom>
          <a:noFill/>
        </p:spPr>
        <p:txBody>
          <a:bodyPr wrap="square" rtlCol="0" anchor="ctr"/>
          <a:lstStyle/>
          <a:p>
            <a:pPr marL="0" indent="0" algn="ctr">
              <a:buNone/>
            </a:pPr>
            <a:r>
              <a:rPr lang="en-US" sz="2550" b="1" dirty="0">
                <a:solidFill>
                  <a:srgbClr val="0F62FE"/>
                </a:solidFill>
                <a:latin typeface="Inter" pitchFamily="34" charset="0"/>
                <a:ea typeface="Inter" pitchFamily="34" charset="-122"/>
                <a:cs typeface="Inter" pitchFamily="34" charset="-120"/>
              </a:rPr>
              <a:t>→</a:t>
            </a:r>
            <a:endParaRPr lang="en-US" sz="2550" dirty="0"/>
          </a:p>
        </p:txBody>
      </p:sp>
      <p:pic>
        <p:nvPicPr>
          <p:cNvPr id="16" name="Image 5" descr="preencoded.png"/>
          <p:cNvPicPr>
            <a:picLocks noChangeAspect="1"/>
          </p:cNvPicPr>
          <p:nvPr/>
        </p:nvPicPr>
        <p:blipFill>
          <a:blip r:embed="rId6"/>
          <a:stretch>
            <a:fillRect/>
          </a:stretch>
        </p:blipFill>
        <p:spPr>
          <a:xfrm>
            <a:off x="10001250" y="2571750"/>
            <a:ext cx="2190750" cy="1238250"/>
          </a:xfrm>
          <a:prstGeom prst="rect">
            <a:avLst/>
          </a:prstGeom>
        </p:spPr>
      </p:pic>
      <p:sp>
        <p:nvSpPr>
          <p:cNvPr id="17" name="Text 9"/>
          <p:cNvSpPr/>
          <p:nvPr/>
        </p:nvSpPr>
        <p:spPr>
          <a:xfrm>
            <a:off x="10144125" y="2905125"/>
            <a:ext cx="1905000" cy="247650"/>
          </a:xfrm>
          <a:prstGeom prst="rect">
            <a:avLst/>
          </a:prstGeom>
          <a:noFill/>
        </p:spPr>
        <p:txBody>
          <a:bodyPr wrap="square" rtlCol="0" anchor="ctr"/>
          <a:lstStyle/>
          <a:p>
            <a:pPr marL="0" indent="0" algn="ctr">
              <a:lnSpc>
                <a:spcPct val="120000"/>
              </a:lnSpc>
              <a:buNone/>
            </a:pPr>
            <a:r>
              <a:rPr lang="en-US" sz="1650" b="1" dirty="0">
                <a:solidFill>
                  <a:srgbClr val="001D6C"/>
                </a:solidFill>
                <a:latin typeface="Arial" panose="020B0604020202020204" pitchFamily="34" charset="0"/>
                <a:ea typeface="Inter" pitchFamily="34" charset="-122"/>
                <a:cs typeface="Arial" panose="020B0604020202020204" pitchFamily="34" charset="0"/>
              </a:rPr>
              <a:t>Equipment Failure</a:t>
            </a:r>
            <a:endParaRPr lang="en-US" sz="1650" dirty="0">
              <a:latin typeface="Arial" panose="020B0604020202020204" pitchFamily="34" charset="0"/>
              <a:cs typeface="Arial" panose="020B0604020202020204" pitchFamily="34" charset="0"/>
            </a:endParaRPr>
          </a:p>
        </p:txBody>
      </p:sp>
      <p:sp>
        <p:nvSpPr>
          <p:cNvPr id="18" name="Text 10"/>
          <p:cNvSpPr/>
          <p:nvPr/>
        </p:nvSpPr>
        <p:spPr>
          <a:xfrm>
            <a:off x="12192000" y="3000375"/>
            <a:ext cx="476250" cy="485775"/>
          </a:xfrm>
          <a:prstGeom prst="rect">
            <a:avLst/>
          </a:prstGeom>
          <a:noFill/>
        </p:spPr>
        <p:txBody>
          <a:bodyPr wrap="square" rtlCol="0" anchor="ctr"/>
          <a:lstStyle/>
          <a:p>
            <a:pPr marL="0" indent="0" algn="ctr">
              <a:buNone/>
            </a:pPr>
            <a:r>
              <a:rPr lang="en-US" sz="2550" b="1" dirty="0">
                <a:solidFill>
                  <a:srgbClr val="0F62FE"/>
                </a:solidFill>
                <a:latin typeface="Inter" pitchFamily="34" charset="0"/>
                <a:ea typeface="Inter" pitchFamily="34" charset="-122"/>
                <a:cs typeface="Inter" pitchFamily="34" charset="-120"/>
              </a:rPr>
              <a:t>→</a:t>
            </a:r>
            <a:endParaRPr lang="en-US" sz="2550" dirty="0"/>
          </a:p>
        </p:txBody>
      </p:sp>
      <p:pic>
        <p:nvPicPr>
          <p:cNvPr id="19" name="Image 6" descr="preencoded.png"/>
          <p:cNvPicPr>
            <a:picLocks noChangeAspect="1"/>
          </p:cNvPicPr>
          <p:nvPr/>
        </p:nvPicPr>
        <p:blipFill>
          <a:blip r:embed="rId7"/>
          <a:stretch>
            <a:fillRect/>
          </a:stretch>
        </p:blipFill>
        <p:spPr>
          <a:xfrm>
            <a:off x="12763500" y="2571750"/>
            <a:ext cx="2190750" cy="1238250"/>
          </a:xfrm>
          <a:prstGeom prst="rect">
            <a:avLst/>
          </a:prstGeom>
        </p:spPr>
      </p:pic>
      <p:sp>
        <p:nvSpPr>
          <p:cNvPr id="20" name="Text 11"/>
          <p:cNvSpPr/>
          <p:nvPr/>
        </p:nvSpPr>
        <p:spPr>
          <a:xfrm>
            <a:off x="12906375" y="2905125"/>
            <a:ext cx="1905000" cy="247650"/>
          </a:xfrm>
          <a:prstGeom prst="rect">
            <a:avLst/>
          </a:prstGeom>
          <a:noFill/>
        </p:spPr>
        <p:txBody>
          <a:bodyPr wrap="square" rtlCol="0" anchor="ctr"/>
          <a:lstStyle/>
          <a:p>
            <a:pPr marL="0" indent="0" algn="ctr">
              <a:lnSpc>
                <a:spcPct val="120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Blackout / Outage</a:t>
            </a:r>
            <a:endParaRPr lang="en-US" sz="1650" dirty="0">
              <a:latin typeface="Arial" panose="020B0604020202020204" pitchFamily="34" charset="0"/>
              <a:cs typeface="Arial" panose="020B0604020202020204" pitchFamily="34" charset="0"/>
            </a:endParaRPr>
          </a:p>
        </p:txBody>
      </p:sp>
      <p:sp>
        <p:nvSpPr>
          <p:cNvPr id="21" name="Text 12"/>
          <p:cNvSpPr/>
          <p:nvPr/>
        </p:nvSpPr>
        <p:spPr>
          <a:xfrm>
            <a:off x="1047750" y="5095875"/>
            <a:ext cx="7429500" cy="2724150"/>
          </a:xfrm>
          <a:prstGeom prst="rect">
            <a:avLst/>
          </a:prstGeom>
          <a:noFill/>
        </p:spPr>
        <p:txBody>
          <a:bodyPr wrap="square" rtlCol="0" anchor="ctr"/>
          <a:lstStyle/>
          <a:p>
            <a:pPr marL="342900" indent="-342900" algn="l">
              <a:lnSpc>
                <a:spcPct val="170000"/>
              </a:lnSpc>
              <a:buSzPct val="100000"/>
              <a:buChar char="•"/>
            </a:pPr>
            <a:r>
              <a:rPr lang="en-US" sz="2000" dirty="0">
                <a:solidFill>
                  <a:srgbClr val="21272A"/>
                </a:solidFill>
                <a:latin typeface="Arial" panose="020B0604020202020204" pitchFamily="34" charset="0"/>
                <a:ea typeface="Inter" pitchFamily="34" charset="-122"/>
                <a:cs typeface="Arial" panose="020B0604020202020204" pitchFamily="34" charset="0"/>
              </a:rPr>
              <a:t>Aging assets — decades-old transformers operating past design life.</a:t>
            </a:r>
            <a:endParaRPr lang="en-US" sz="2000" dirty="0">
              <a:latin typeface="Arial" panose="020B0604020202020204" pitchFamily="34" charset="0"/>
              <a:cs typeface="Arial" panose="020B0604020202020204" pitchFamily="34" charset="0"/>
            </a:endParaRPr>
          </a:p>
          <a:p>
            <a:pPr marL="342900" indent="-342900" algn="l">
              <a:lnSpc>
                <a:spcPct val="170000"/>
              </a:lnSpc>
              <a:buSzPct val="100000"/>
              <a:buChar char="•"/>
            </a:pPr>
            <a:r>
              <a:rPr lang="en-US" sz="2000" dirty="0">
                <a:solidFill>
                  <a:srgbClr val="21272A"/>
                </a:solidFill>
                <a:latin typeface="Arial" panose="020B0604020202020204" pitchFamily="34" charset="0"/>
                <a:ea typeface="Inter" pitchFamily="34" charset="-122"/>
                <a:cs typeface="Arial" panose="020B0604020202020204" pitchFamily="34" charset="0"/>
              </a:rPr>
              <a:t>Reactive maintenance — crews respond only after failures occur.</a:t>
            </a:r>
            <a:endParaRPr lang="en-US" sz="2000" dirty="0">
              <a:latin typeface="Arial" panose="020B0604020202020204" pitchFamily="34" charset="0"/>
              <a:cs typeface="Arial" panose="020B0604020202020204" pitchFamily="34" charset="0"/>
            </a:endParaRPr>
          </a:p>
          <a:p>
            <a:pPr marL="342900" indent="-342900" algn="l">
              <a:lnSpc>
                <a:spcPct val="170000"/>
              </a:lnSpc>
              <a:buSzPct val="100000"/>
              <a:buChar char="•"/>
            </a:pPr>
            <a:r>
              <a:rPr lang="en-US" sz="2000" dirty="0">
                <a:solidFill>
                  <a:srgbClr val="21272A"/>
                </a:solidFill>
                <a:latin typeface="Arial" panose="020B0604020202020204" pitchFamily="34" charset="0"/>
                <a:ea typeface="Inter" pitchFamily="34" charset="-122"/>
                <a:cs typeface="Arial" panose="020B0604020202020204" pitchFamily="34" charset="0"/>
              </a:rPr>
              <a:t>Sensor data siloed — health signals never combine into one view.</a:t>
            </a:r>
            <a:endParaRPr lang="en-US" sz="2000" dirty="0">
              <a:latin typeface="Arial" panose="020B0604020202020204" pitchFamily="34" charset="0"/>
              <a:cs typeface="Arial" panose="020B0604020202020204" pitchFamily="34" charset="0"/>
            </a:endParaRPr>
          </a:p>
          <a:p>
            <a:pPr marL="342900" indent="-342900" algn="l">
              <a:lnSpc>
                <a:spcPct val="170000"/>
              </a:lnSpc>
              <a:buSzPct val="100000"/>
              <a:buChar char="•"/>
            </a:pPr>
            <a:r>
              <a:rPr lang="en-US" sz="2000" dirty="0">
                <a:solidFill>
                  <a:srgbClr val="21272A"/>
                </a:solidFill>
                <a:latin typeface="Arial" panose="020B0604020202020204" pitchFamily="34" charset="0"/>
                <a:ea typeface="Inter" pitchFamily="34" charset="-122"/>
                <a:cs typeface="Arial" panose="020B0604020202020204" pitchFamily="34" charset="0"/>
              </a:rPr>
              <a:t>Weather stress — heat and storms accelerate hidden degradation.</a:t>
            </a:r>
            <a:endParaRPr lang="en-US" sz="2000" dirty="0">
              <a:latin typeface="Arial" panose="020B0604020202020204" pitchFamily="34" charset="0"/>
              <a:cs typeface="Arial" panose="020B0604020202020204" pitchFamily="34" charset="0"/>
            </a:endParaRPr>
          </a:p>
        </p:txBody>
      </p:sp>
      <p:pic>
        <p:nvPicPr>
          <p:cNvPr id="22" name="Image 7" descr="preencoded.png"/>
          <p:cNvPicPr>
            <a:picLocks noChangeAspect="1"/>
          </p:cNvPicPr>
          <p:nvPr/>
        </p:nvPicPr>
        <p:blipFill>
          <a:blip r:embed="rId8"/>
          <a:stretch>
            <a:fillRect/>
          </a:stretch>
        </p:blipFill>
        <p:spPr>
          <a:xfrm>
            <a:off x="9429750" y="4476750"/>
            <a:ext cx="7620000" cy="2857500"/>
          </a:xfrm>
          <a:prstGeom prst="rect">
            <a:avLst/>
          </a:prstGeom>
        </p:spPr>
      </p:pic>
      <p:pic>
        <p:nvPicPr>
          <p:cNvPr id="23" name="Image 8" descr="preencoded.png"/>
          <p:cNvPicPr>
            <a:picLocks noChangeAspect="1"/>
          </p:cNvPicPr>
          <p:nvPr/>
        </p:nvPicPr>
        <p:blipFill>
          <a:blip r:embed="rId9"/>
          <a:stretch>
            <a:fillRect/>
          </a:stretch>
        </p:blipFill>
        <p:spPr>
          <a:xfrm>
            <a:off x="9429750" y="4476750"/>
            <a:ext cx="114300" cy="2857500"/>
          </a:xfrm>
          <a:prstGeom prst="rect">
            <a:avLst/>
          </a:prstGeom>
        </p:spPr>
      </p:pic>
      <p:sp>
        <p:nvSpPr>
          <p:cNvPr id="24" name="Text 13"/>
          <p:cNvSpPr/>
          <p:nvPr/>
        </p:nvSpPr>
        <p:spPr>
          <a:xfrm>
            <a:off x="10001250" y="4857750"/>
            <a:ext cx="6572250" cy="285750"/>
          </a:xfrm>
          <a:prstGeom prst="rect">
            <a:avLst/>
          </a:prstGeom>
          <a:noFill/>
        </p:spPr>
        <p:txBody>
          <a:bodyPr wrap="square" rtlCol="0" anchor="ctr"/>
          <a:lstStyle/>
          <a:p>
            <a:pPr marL="0" indent="0" algn="l">
              <a:buNone/>
            </a:pPr>
            <a:r>
              <a:rPr lang="en-US" sz="1500" b="1" dirty="0">
                <a:solidFill>
                  <a:srgbClr val="78A9FF"/>
                </a:solidFill>
                <a:latin typeface="Arial" panose="020B0604020202020204" pitchFamily="34" charset="0"/>
                <a:ea typeface="Inter" pitchFamily="34" charset="-122"/>
                <a:cs typeface="Arial" panose="020B0604020202020204" pitchFamily="34" charset="0"/>
              </a:rPr>
              <a:t>THE CORE INSIGHT</a:t>
            </a:r>
            <a:endParaRPr lang="en-US" sz="1500" dirty="0">
              <a:latin typeface="Arial" panose="020B0604020202020204" pitchFamily="34" charset="0"/>
              <a:cs typeface="Arial" panose="020B0604020202020204" pitchFamily="34" charset="0"/>
            </a:endParaRPr>
          </a:p>
        </p:txBody>
      </p:sp>
      <p:sp>
        <p:nvSpPr>
          <p:cNvPr id="25" name="Text 14"/>
          <p:cNvSpPr/>
          <p:nvPr/>
        </p:nvSpPr>
        <p:spPr>
          <a:xfrm>
            <a:off x="10001250" y="5334000"/>
            <a:ext cx="6572250" cy="1266825"/>
          </a:xfrm>
          <a:prstGeom prst="rect">
            <a:avLst/>
          </a:prstGeom>
          <a:noFill/>
        </p:spPr>
        <p:txBody>
          <a:bodyPr wrap="square" rtlCol="0" anchor="ctr"/>
          <a:lstStyle/>
          <a:p>
            <a:pPr marL="0" indent="0" algn="l">
              <a:lnSpc>
                <a:spcPct val="130000"/>
              </a:lnSpc>
              <a:buNone/>
            </a:pPr>
            <a:r>
              <a:rPr lang="en-US" sz="2550" b="1" dirty="0">
                <a:solidFill>
                  <a:srgbClr val="FFFFFF"/>
                </a:solidFill>
                <a:latin typeface="Arial" panose="020B0604020202020204" pitchFamily="34" charset="0"/>
                <a:ea typeface="Inter" pitchFamily="34" charset="-122"/>
                <a:cs typeface="Arial" panose="020B0604020202020204" pitchFamily="34" charset="0"/>
              </a:rPr>
              <a:t>Failure signatures appear weeks in advance — but action often comes too late.</a:t>
            </a:r>
            <a:endParaRPr lang="en-US" sz="2550" dirty="0">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1047750" y="571500"/>
            <a:ext cx="95250" cy="476250"/>
          </a:xfrm>
          <a:prstGeom prst="rect">
            <a:avLst/>
          </a:prstGeom>
        </p:spPr>
      </p:pic>
      <p:sp>
        <p:nvSpPr>
          <p:cNvPr id="3" name="Text 0"/>
          <p:cNvSpPr/>
          <p:nvPr/>
        </p:nvSpPr>
        <p:spPr>
          <a:xfrm>
            <a:off x="1333500" y="428625"/>
            <a:ext cx="5715000" cy="285750"/>
          </a:xfrm>
          <a:prstGeom prst="rect">
            <a:avLst/>
          </a:prstGeom>
          <a:noFill/>
        </p:spPr>
        <p:txBody>
          <a:bodyPr wrap="square" rtlCol="0" anchor="ctr"/>
          <a:lstStyle/>
          <a:p>
            <a:pPr marL="0" indent="0" algn="l">
              <a:buNone/>
            </a:pPr>
            <a:r>
              <a:rPr lang="en-US" sz="1500" b="1" dirty="0">
                <a:solidFill>
                  <a:srgbClr val="0F62FE"/>
                </a:solidFill>
                <a:latin typeface="Arial" panose="020B0604020202020204" pitchFamily="34" charset="0"/>
                <a:ea typeface="Inter" pitchFamily="34" charset="-122"/>
                <a:cs typeface="Arial" panose="020B0604020202020204" pitchFamily="34" charset="0"/>
              </a:rPr>
              <a:t>02  /  OUR SOLUTION</a:t>
            </a:r>
            <a:endParaRPr lang="en-US" sz="1500" dirty="0">
              <a:latin typeface="Arial" panose="020B0604020202020204" pitchFamily="34" charset="0"/>
              <a:cs typeface="Arial" panose="020B0604020202020204" pitchFamily="34" charset="0"/>
            </a:endParaRPr>
          </a:p>
        </p:txBody>
      </p:sp>
      <p:sp>
        <p:nvSpPr>
          <p:cNvPr id="4" name="Text 1"/>
          <p:cNvSpPr/>
          <p:nvPr/>
        </p:nvSpPr>
        <p:spPr>
          <a:xfrm>
            <a:off x="1333500" y="714375"/>
            <a:ext cx="15240000" cy="571500"/>
          </a:xfrm>
          <a:prstGeom prst="rect">
            <a:avLst/>
          </a:prstGeom>
          <a:noFill/>
        </p:spPr>
        <p:txBody>
          <a:bodyPr wrap="square" rtlCol="0" anchor="ctr"/>
          <a:lstStyle/>
          <a:p>
            <a:pPr marL="0" indent="0" algn="l">
              <a:buNone/>
            </a:pPr>
            <a:r>
              <a:rPr lang="en-US" sz="3000" b="1" dirty="0">
                <a:solidFill>
                  <a:srgbClr val="001D6C"/>
                </a:solidFill>
                <a:latin typeface="Arial" panose="020B0604020202020204" pitchFamily="34" charset="0"/>
                <a:ea typeface="Inter" pitchFamily="34" charset="-122"/>
                <a:cs typeface="Arial" panose="020B0604020202020204" pitchFamily="34" charset="0"/>
              </a:rPr>
              <a:t>A Bob-powered Grid Equipment Failure Advisor that solves the challenge.</a:t>
            </a:r>
            <a:endParaRPr lang="en-US" sz="3000" dirty="0">
              <a:latin typeface="Arial" panose="020B0604020202020204" pitchFamily="34" charset="0"/>
              <a:cs typeface="Arial" panose="020B0604020202020204" pitchFamily="34" charset="0"/>
            </a:endParaRPr>
          </a:p>
        </p:txBody>
      </p:sp>
      <p:pic>
        <p:nvPicPr>
          <p:cNvPr id="5" name="Image 1" descr="preencoded.png"/>
          <p:cNvPicPr>
            <a:picLocks noChangeAspect="1"/>
          </p:cNvPicPr>
          <p:nvPr/>
        </p:nvPicPr>
        <p:blipFill>
          <a:blip r:embed="rId2"/>
          <a:stretch>
            <a:fillRect/>
          </a:stretch>
        </p:blipFill>
        <p:spPr>
          <a:xfrm>
            <a:off x="1047750" y="1905000"/>
            <a:ext cx="3429000" cy="5143500"/>
          </a:xfrm>
          <a:prstGeom prst="rect">
            <a:avLst/>
          </a:prstGeom>
        </p:spPr>
      </p:pic>
      <p:sp>
        <p:nvSpPr>
          <p:cNvPr id="6" name="Text 2"/>
          <p:cNvSpPr/>
          <p:nvPr/>
        </p:nvSpPr>
        <p:spPr>
          <a:xfrm>
            <a:off x="1428750" y="2190750"/>
            <a:ext cx="2667000" cy="314325"/>
          </a:xfrm>
          <a:prstGeom prst="rect">
            <a:avLst/>
          </a:prstGeom>
          <a:noFill/>
        </p:spPr>
        <p:txBody>
          <a:bodyPr wrap="square" rtlCol="0" anchor="ctr"/>
          <a:lstStyle/>
          <a:p>
            <a:pPr marL="0" indent="0" algn="l">
              <a:buNone/>
            </a:pPr>
            <a:r>
              <a:rPr lang="en-US" sz="1650" b="1" dirty="0">
                <a:solidFill>
                  <a:srgbClr val="0F62FE"/>
                </a:solidFill>
                <a:latin typeface="Arial" panose="020B0604020202020204" pitchFamily="34" charset="0"/>
                <a:ea typeface="Inter" pitchFamily="34" charset="-122"/>
                <a:cs typeface="Arial" panose="020B0604020202020204" pitchFamily="34" charset="0"/>
              </a:rPr>
              <a:t>INPUT</a:t>
            </a:r>
            <a:endParaRPr lang="en-US" sz="1650" dirty="0">
              <a:latin typeface="Arial" panose="020B0604020202020204" pitchFamily="34" charset="0"/>
              <a:cs typeface="Arial" panose="020B0604020202020204" pitchFamily="34" charset="0"/>
            </a:endParaRPr>
          </a:p>
        </p:txBody>
      </p:sp>
      <p:sp>
        <p:nvSpPr>
          <p:cNvPr id="7" name="Text 3"/>
          <p:cNvSpPr/>
          <p:nvPr/>
        </p:nvSpPr>
        <p:spPr>
          <a:xfrm>
            <a:off x="1333500" y="3048000"/>
            <a:ext cx="2762250" cy="2343150"/>
          </a:xfrm>
          <a:prstGeom prst="rect">
            <a:avLst/>
          </a:prstGeom>
          <a:noFill/>
        </p:spPr>
        <p:txBody>
          <a:bodyPr wrap="square" rtlCol="0" anchor="ctr"/>
          <a:lstStyle/>
          <a:p>
            <a:pPr marL="342900" indent="-342900" algn="l">
              <a:lnSpc>
                <a:spcPct val="160000"/>
              </a:lnSpc>
              <a:buSzPct val="100000"/>
              <a:buChar char="•"/>
            </a:pPr>
            <a:r>
              <a:rPr lang="en-US" sz="1650" dirty="0">
                <a:solidFill>
                  <a:srgbClr val="21272A"/>
                </a:solidFill>
                <a:latin typeface="Arial" panose="020B0604020202020204" pitchFamily="34" charset="0"/>
                <a:ea typeface="Inter" pitchFamily="34" charset="-122"/>
                <a:cs typeface="Arial" panose="020B0604020202020204" pitchFamily="34" charset="0"/>
              </a:rPr>
              <a:t>Asset Health Sensors</a:t>
            </a:r>
            <a:endParaRPr lang="en-US" sz="1650" dirty="0">
              <a:latin typeface="Arial" panose="020B0604020202020204" pitchFamily="34" charset="0"/>
              <a:cs typeface="Arial" panose="020B0604020202020204" pitchFamily="34" charset="0"/>
            </a:endParaRPr>
          </a:p>
          <a:p>
            <a:pPr marL="0" indent="0" algn="l">
              <a:lnSpc>
                <a:spcPct val="160000"/>
              </a:lnSpc>
              <a:buNone/>
            </a:pPr>
            <a:r>
              <a:rPr lang="en-US" sz="1650" dirty="0">
                <a:solidFill>
                  <a:srgbClr val="21272A"/>
                </a:solidFill>
                <a:latin typeface="Arial" panose="020B0604020202020204" pitchFamily="34" charset="0"/>
                <a:ea typeface="Inter" pitchFamily="34" charset="-122"/>
                <a:cs typeface="Arial" panose="020B0604020202020204" pitchFamily="34" charset="0"/>
              </a:rPr>
              <a:t>   Temperature · Vibration</a:t>
            </a:r>
            <a:endParaRPr lang="en-US" sz="1650" dirty="0">
              <a:latin typeface="Arial" panose="020B0604020202020204" pitchFamily="34" charset="0"/>
              <a:cs typeface="Arial" panose="020B0604020202020204" pitchFamily="34" charset="0"/>
            </a:endParaRPr>
          </a:p>
          <a:p>
            <a:pPr marL="0" indent="0" algn="l">
              <a:lnSpc>
                <a:spcPct val="160000"/>
              </a:lnSpc>
              <a:buNone/>
            </a:pPr>
            <a:r>
              <a:rPr lang="en-US" sz="1650" dirty="0">
                <a:solidFill>
                  <a:srgbClr val="21272A"/>
                </a:solidFill>
                <a:latin typeface="Arial" panose="020B0604020202020204" pitchFamily="34" charset="0"/>
                <a:ea typeface="Inter" pitchFamily="34" charset="-122"/>
                <a:cs typeface="Arial" panose="020B0604020202020204" pitchFamily="34" charset="0"/>
              </a:rPr>
              <a:t>   Partial Discharge · Oil Quality</a:t>
            </a:r>
            <a:endParaRPr lang="en-US" sz="1650" dirty="0">
              <a:latin typeface="Arial" panose="020B0604020202020204" pitchFamily="34" charset="0"/>
              <a:cs typeface="Arial" panose="020B0604020202020204" pitchFamily="34" charset="0"/>
            </a:endParaRPr>
          </a:p>
          <a:p>
            <a:pPr marL="342900" indent="-342900" algn="l">
              <a:lnSpc>
                <a:spcPct val="160000"/>
              </a:lnSpc>
              <a:buSzPct val="100000"/>
              <a:buChar char="•"/>
            </a:pPr>
            <a:r>
              <a:rPr lang="en-US" sz="1650" dirty="0">
                <a:solidFill>
                  <a:srgbClr val="21272A"/>
                </a:solidFill>
                <a:latin typeface="Arial" panose="020B0604020202020204" pitchFamily="34" charset="0"/>
                <a:ea typeface="Inter" pitchFamily="34" charset="-122"/>
                <a:cs typeface="Arial" panose="020B0604020202020204" pitchFamily="34" charset="0"/>
              </a:rPr>
              <a:t>Weather Forecasts</a:t>
            </a:r>
            <a:endParaRPr lang="en-US" sz="1650" dirty="0">
              <a:latin typeface="Arial" panose="020B0604020202020204" pitchFamily="34" charset="0"/>
              <a:cs typeface="Arial" panose="020B0604020202020204" pitchFamily="34" charset="0"/>
            </a:endParaRPr>
          </a:p>
          <a:p>
            <a:pPr marL="342900" indent="-342900" algn="l">
              <a:lnSpc>
                <a:spcPct val="160000"/>
              </a:lnSpc>
              <a:buSzPct val="100000"/>
              <a:buChar char="•"/>
            </a:pPr>
            <a:r>
              <a:rPr lang="en-US" sz="1650" dirty="0">
                <a:solidFill>
                  <a:srgbClr val="21272A"/>
                </a:solidFill>
                <a:latin typeface="Arial" panose="020B0604020202020204" pitchFamily="34" charset="0"/>
                <a:ea typeface="Inter" pitchFamily="34" charset="-122"/>
                <a:cs typeface="Arial" panose="020B0604020202020204" pitchFamily="34" charset="0"/>
              </a:rPr>
              <a:t>Historical Incident Records</a:t>
            </a:r>
            <a:endParaRPr lang="en-US" sz="1650" dirty="0">
              <a:latin typeface="Arial" panose="020B0604020202020204" pitchFamily="34" charset="0"/>
              <a:cs typeface="Arial" panose="020B0604020202020204" pitchFamily="34" charset="0"/>
            </a:endParaRPr>
          </a:p>
        </p:txBody>
      </p:sp>
      <p:pic>
        <p:nvPicPr>
          <p:cNvPr id="8" name="Image 2" descr="preencoded.png"/>
          <p:cNvPicPr>
            <a:picLocks noChangeAspect="1"/>
          </p:cNvPicPr>
          <p:nvPr/>
        </p:nvPicPr>
        <p:blipFill>
          <a:blip r:embed="rId3"/>
          <a:stretch>
            <a:fillRect/>
          </a:stretch>
        </p:blipFill>
        <p:spPr>
          <a:xfrm>
            <a:off x="4857750" y="1905000"/>
            <a:ext cx="3429000" cy="5143500"/>
          </a:xfrm>
          <a:prstGeom prst="rect">
            <a:avLst/>
          </a:prstGeom>
        </p:spPr>
      </p:pic>
      <p:sp>
        <p:nvSpPr>
          <p:cNvPr id="9" name="Text 4"/>
          <p:cNvSpPr/>
          <p:nvPr/>
        </p:nvSpPr>
        <p:spPr>
          <a:xfrm>
            <a:off x="5238750" y="2190750"/>
            <a:ext cx="2667000" cy="314325"/>
          </a:xfrm>
          <a:prstGeom prst="rect">
            <a:avLst/>
          </a:prstGeom>
          <a:noFill/>
        </p:spPr>
        <p:txBody>
          <a:bodyPr wrap="square" rtlCol="0" anchor="ctr"/>
          <a:lstStyle/>
          <a:p>
            <a:pPr marL="0" indent="0" algn="l">
              <a:buNone/>
            </a:pPr>
            <a:r>
              <a:rPr lang="en-US" sz="1650" b="1" dirty="0">
                <a:solidFill>
                  <a:srgbClr val="78A9FF"/>
                </a:solidFill>
                <a:latin typeface="Arial" panose="020B0604020202020204" pitchFamily="34" charset="0"/>
                <a:ea typeface="Inter" pitchFamily="34" charset="-122"/>
                <a:cs typeface="Arial" panose="020B0604020202020204" pitchFamily="34" charset="0"/>
              </a:rPr>
              <a:t>INTELLIGENCE</a:t>
            </a:r>
            <a:endParaRPr lang="en-US" sz="1650" dirty="0">
              <a:latin typeface="Arial" panose="020B0604020202020204" pitchFamily="34" charset="0"/>
              <a:cs typeface="Arial" panose="020B0604020202020204" pitchFamily="34" charset="0"/>
            </a:endParaRPr>
          </a:p>
        </p:txBody>
      </p:sp>
      <p:sp>
        <p:nvSpPr>
          <p:cNvPr id="10" name="Text 5"/>
          <p:cNvSpPr/>
          <p:nvPr/>
        </p:nvSpPr>
        <p:spPr>
          <a:xfrm>
            <a:off x="5238750" y="3048000"/>
            <a:ext cx="2762250" cy="1866900"/>
          </a:xfrm>
          <a:prstGeom prst="rect">
            <a:avLst/>
          </a:prstGeom>
          <a:noFill/>
        </p:spPr>
        <p:txBody>
          <a:bodyPr wrap="square" rtlCol="0" anchor="ctr"/>
          <a:lstStyle/>
          <a:p>
            <a:pPr marL="0" indent="0" algn="l">
              <a:lnSpc>
                <a:spcPct val="140000"/>
              </a:lnSpc>
              <a:buNone/>
            </a:pPr>
            <a:r>
              <a:rPr lang="en-US" sz="2100" b="1" dirty="0">
                <a:solidFill>
                  <a:srgbClr val="FFFFFF"/>
                </a:solidFill>
                <a:latin typeface="Arial" panose="020B0604020202020204" pitchFamily="34" charset="0"/>
                <a:ea typeface="Inter" pitchFamily="34" charset="-122"/>
                <a:cs typeface="Arial" panose="020B0604020202020204" pitchFamily="34" charset="0"/>
              </a:rPr>
              <a:t>Composite Risk Engine</a:t>
            </a:r>
            <a:endParaRPr lang="en-US" sz="2100" dirty="0">
              <a:latin typeface="Arial" panose="020B0604020202020204" pitchFamily="34" charset="0"/>
              <a:cs typeface="Arial" panose="020B0604020202020204" pitchFamily="34" charset="0"/>
            </a:endParaRPr>
          </a:p>
          <a:p>
            <a:pPr marL="0" indent="0" algn="l">
              <a:lnSpc>
                <a:spcPct val="140000"/>
              </a:lnSpc>
              <a:buNone/>
            </a:pPr>
            <a:r>
              <a:rPr lang="en-US" sz="2100" b="1" dirty="0">
                <a:solidFill>
                  <a:srgbClr val="FFFFFF"/>
                </a:solidFill>
                <a:latin typeface="Arial" panose="020B0604020202020204" pitchFamily="34" charset="0"/>
                <a:ea typeface="Inter" pitchFamily="34" charset="-122"/>
                <a:cs typeface="Arial" panose="020B0604020202020204" pitchFamily="34" charset="0"/>
              </a:rPr>
              <a:t>+</a:t>
            </a:r>
            <a:endParaRPr lang="en-US" sz="2100" dirty="0">
              <a:latin typeface="Arial" panose="020B0604020202020204" pitchFamily="34" charset="0"/>
              <a:cs typeface="Arial" panose="020B0604020202020204" pitchFamily="34" charset="0"/>
            </a:endParaRPr>
          </a:p>
          <a:p>
            <a:pPr marL="0" indent="0" algn="l">
              <a:lnSpc>
                <a:spcPct val="140000"/>
              </a:lnSpc>
              <a:buNone/>
            </a:pPr>
            <a:r>
              <a:rPr lang="en-US" sz="2100" b="1" dirty="0">
                <a:solidFill>
                  <a:srgbClr val="FFFFFF"/>
                </a:solidFill>
                <a:latin typeface="Arial" panose="020B0604020202020204" pitchFamily="34" charset="0"/>
                <a:ea typeface="Inter" pitchFamily="34" charset="-122"/>
                <a:cs typeface="Arial" panose="020B0604020202020204" pitchFamily="34" charset="0"/>
              </a:rPr>
              <a:t>IBM Bob</a:t>
            </a:r>
            <a:endParaRPr lang="en-US" sz="2100" dirty="0">
              <a:latin typeface="Arial" panose="020B0604020202020204" pitchFamily="34" charset="0"/>
              <a:cs typeface="Arial" panose="020B0604020202020204" pitchFamily="34" charset="0"/>
            </a:endParaRPr>
          </a:p>
          <a:p>
            <a:pPr marL="0" indent="0" algn="l">
              <a:lnSpc>
                <a:spcPct val="140000"/>
              </a:lnSpc>
              <a:buNone/>
            </a:pPr>
            <a:r>
              <a:rPr lang="en-US" sz="2100" b="1" dirty="0">
                <a:solidFill>
                  <a:srgbClr val="FFFFFF"/>
                </a:solidFill>
                <a:latin typeface="Arial" panose="020B0604020202020204" pitchFamily="34" charset="0"/>
                <a:ea typeface="Inter" pitchFamily="34" charset="-122"/>
                <a:cs typeface="Arial" panose="020B0604020202020204" pitchFamily="34" charset="0"/>
              </a:rPr>
              <a:t>watsonx.ai Granite</a:t>
            </a:r>
            <a:endParaRPr lang="en-US" sz="2100" dirty="0">
              <a:latin typeface="Arial" panose="020B0604020202020204" pitchFamily="34" charset="0"/>
              <a:cs typeface="Arial" panose="020B0604020202020204" pitchFamily="34" charset="0"/>
            </a:endParaRPr>
          </a:p>
        </p:txBody>
      </p:sp>
      <p:pic>
        <p:nvPicPr>
          <p:cNvPr id="11" name="Image 3" descr="preencoded.png"/>
          <p:cNvPicPr>
            <a:picLocks noChangeAspect="1"/>
          </p:cNvPicPr>
          <p:nvPr/>
        </p:nvPicPr>
        <p:blipFill>
          <a:blip r:embed="rId2"/>
          <a:stretch>
            <a:fillRect/>
          </a:stretch>
        </p:blipFill>
        <p:spPr>
          <a:xfrm>
            <a:off x="8667750" y="1905000"/>
            <a:ext cx="3429000" cy="5143500"/>
          </a:xfrm>
          <a:prstGeom prst="rect">
            <a:avLst/>
          </a:prstGeom>
        </p:spPr>
      </p:pic>
      <p:sp>
        <p:nvSpPr>
          <p:cNvPr id="12" name="Text 6"/>
          <p:cNvSpPr/>
          <p:nvPr/>
        </p:nvSpPr>
        <p:spPr>
          <a:xfrm>
            <a:off x="9048750" y="2190750"/>
            <a:ext cx="2667000" cy="314325"/>
          </a:xfrm>
          <a:prstGeom prst="rect">
            <a:avLst/>
          </a:prstGeom>
          <a:noFill/>
        </p:spPr>
        <p:txBody>
          <a:bodyPr wrap="square" rtlCol="0" anchor="ctr"/>
          <a:lstStyle/>
          <a:p>
            <a:pPr marL="0" indent="0" algn="l">
              <a:buNone/>
            </a:pPr>
            <a:r>
              <a:rPr lang="en-US" sz="1650" b="1" dirty="0">
                <a:solidFill>
                  <a:srgbClr val="0F62FE"/>
                </a:solidFill>
                <a:latin typeface="Arial" panose="020B0604020202020204" pitchFamily="34" charset="0"/>
                <a:ea typeface="Inter" pitchFamily="34" charset="-122"/>
                <a:cs typeface="Arial" panose="020B0604020202020204" pitchFamily="34" charset="0"/>
              </a:rPr>
              <a:t>OUTPUT</a:t>
            </a:r>
            <a:endParaRPr lang="en-US" sz="1650" dirty="0">
              <a:latin typeface="Arial" panose="020B0604020202020204" pitchFamily="34" charset="0"/>
              <a:cs typeface="Arial" panose="020B0604020202020204" pitchFamily="34" charset="0"/>
            </a:endParaRPr>
          </a:p>
        </p:txBody>
      </p:sp>
      <p:sp>
        <p:nvSpPr>
          <p:cNvPr id="13" name="Text 7"/>
          <p:cNvSpPr/>
          <p:nvPr/>
        </p:nvSpPr>
        <p:spPr>
          <a:xfrm>
            <a:off x="9048750" y="2762250"/>
            <a:ext cx="2762250" cy="2133600"/>
          </a:xfrm>
          <a:prstGeom prst="rect">
            <a:avLst/>
          </a:prstGeom>
          <a:noFill/>
        </p:spPr>
        <p:txBody>
          <a:bodyPr wrap="square" rtlCol="0" anchor="ctr"/>
          <a:lstStyle/>
          <a:p>
            <a:pPr marL="342900" indent="-342900" algn="l">
              <a:lnSpc>
                <a:spcPct val="170000"/>
              </a:lnSpc>
              <a:buSzPct val="100000"/>
              <a:buChar char="•"/>
            </a:pPr>
            <a:r>
              <a:rPr lang="en-US" sz="1650" dirty="0">
                <a:solidFill>
                  <a:srgbClr val="21272A"/>
                </a:solidFill>
                <a:latin typeface="Arial" panose="020B0604020202020204" pitchFamily="34" charset="0"/>
                <a:ea typeface="Inter" pitchFamily="34" charset="-122"/>
                <a:cs typeface="Arial" panose="020B0604020202020204" pitchFamily="34" charset="0"/>
              </a:rPr>
              <a:t>Composite risk score</a:t>
            </a:r>
            <a:endParaRPr lang="en-US" sz="1650" dirty="0">
              <a:latin typeface="Arial" panose="020B0604020202020204" pitchFamily="34" charset="0"/>
              <a:cs typeface="Arial" panose="020B0604020202020204" pitchFamily="34" charset="0"/>
            </a:endParaRPr>
          </a:p>
          <a:p>
            <a:pPr marL="342900" indent="-342900" algn="l">
              <a:lnSpc>
                <a:spcPct val="170000"/>
              </a:lnSpc>
              <a:buSzPct val="100000"/>
              <a:buChar char="•"/>
            </a:pPr>
            <a:r>
              <a:rPr lang="en-US" sz="1650" dirty="0">
                <a:solidFill>
                  <a:srgbClr val="21272A"/>
                </a:solidFill>
                <a:latin typeface="Arial" panose="020B0604020202020204" pitchFamily="34" charset="0"/>
                <a:ea typeface="Inter" pitchFamily="34" charset="-122"/>
                <a:cs typeface="Arial" panose="020B0604020202020204" pitchFamily="34" charset="0"/>
              </a:rPr>
              <a:t>At-risk asset ranking</a:t>
            </a:r>
            <a:endParaRPr lang="en-US" sz="1650" dirty="0">
              <a:latin typeface="Arial" panose="020B0604020202020204" pitchFamily="34" charset="0"/>
              <a:cs typeface="Arial" panose="020B0604020202020204" pitchFamily="34" charset="0"/>
            </a:endParaRPr>
          </a:p>
          <a:p>
            <a:pPr marL="342900" indent="-342900" algn="l">
              <a:lnSpc>
                <a:spcPct val="170000"/>
              </a:lnSpc>
              <a:buSzPct val="100000"/>
              <a:buChar char="•"/>
            </a:pPr>
            <a:r>
              <a:rPr lang="en-US" sz="1650" dirty="0">
                <a:solidFill>
                  <a:srgbClr val="21272A"/>
                </a:solidFill>
                <a:latin typeface="Arial" panose="020B0604020202020204" pitchFamily="34" charset="0"/>
                <a:ea typeface="Inter" pitchFamily="34" charset="-122"/>
                <a:cs typeface="Arial" panose="020B0604020202020204" pitchFamily="34" charset="0"/>
              </a:rPr>
              <a:t>Outage-prone zone risk</a:t>
            </a:r>
            <a:endParaRPr lang="en-US" sz="1650" dirty="0">
              <a:latin typeface="Arial" panose="020B0604020202020204" pitchFamily="34" charset="0"/>
              <a:cs typeface="Arial" panose="020B0604020202020204" pitchFamily="34" charset="0"/>
            </a:endParaRPr>
          </a:p>
          <a:p>
            <a:pPr marL="342900" indent="-342900" algn="l">
              <a:lnSpc>
                <a:spcPct val="170000"/>
              </a:lnSpc>
              <a:buSzPct val="100000"/>
              <a:buChar char="•"/>
            </a:pPr>
            <a:r>
              <a:rPr lang="en-US" sz="1650" dirty="0">
                <a:solidFill>
                  <a:srgbClr val="21272A"/>
                </a:solidFill>
                <a:latin typeface="Arial" panose="020B0604020202020204" pitchFamily="34" charset="0"/>
                <a:ea typeface="Inter" pitchFamily="34" charset="-122"/>
                <a:cs typeface="Arial" panose="020B0604020202020204" pitchFamily="34" charset="0"/>
              </a:rPr>
              <a:t>Prioritized maintenance plan</a:t>
            </a:r>
            <a:endParaRPr lang="en-US" sz="1650" dirty="0">
              <a:latin typeface="Arial" panose="020B0604020202020204" pitchFamily="34" charset="0"/>
              <a:cs typeface="Arial" panose="020B0604020202020204" pitchFamily="34" charset="0"/>
            </a:endParaRPr>
          </a:p>
          <a:p>
            <a:pPr marL="342900" indent="-342900" algn="l">
              <a:lnSpc>
                <a:spcPct val="170000"/>
              </a:lnSpc>
              <a:buSzPct val="100000"/>
              <a:buChar char="•"/>
            </a:pPr>
            <a:r>
              <a:rPr lang="en-US" sz="1650" dirty="0">
                <a:solidFill>
                  <a:srgbClr val="21272A"/>
                </a:solidFill>
                <a:latin typeface="Arial" panose="020B0604020202020204" pitchFamily="34" charset="0"/>
                <a:ea typeface="Inter" pitchFamily="34" charset="-122"/>
                <a:cs typeface="Arial" panose="020B0604020202020204" pitchFamily="34" charset="0"/>
              </a:rPr>
              <a:t>Crew pre-positioning</a:t>
            </a:r>
            <a:endParaRPr lang="en-US" sz="1650" dirty="0">
              <a:latin typeface="Arial" panose="020B0604020202020204" pitchFamily="34" charset="0"/>
              <a:cs typeface="Arial" panose="020B0604020202020204" pitchFamily="34" charset="0"/>
            </a:endParaRPr>
          </a:p>
        </p:txBody>
      </p:sp>
      <p:pic>
        <p:nvPicPr>
          <p:cNvPr id="14" name="Image 4" descr="preencoded.png"/>
          <p:cNvPicPr>
            <a:picLocks noChangeAspect="1"/>
          </p:cNvPicPr>
          <p:nvPr/>
        </p:nvPicPr>
        <p:blipFill>
          <a:blip r:embed="rId4"/>
          <a:stretch>
            <a:fillRect/>
          </a:stretch>
        </p:blipFill>
        <p:spPr>
          <a:xfrm>
            <a:off x="12477750" y="1905000"/>
            <a:ext cx="4762500" cy="5143500"/>
          </a:xfrm>
          <a:prstGeom prst="rect">
            <a:avLst/>
          </a:prstGeom>
        </p:spPr>
      </p:pic>
      <p:sp>
        <p:nvSpPr>
          <p:cNvPr id="15" name="Text 8"/>
          <p:cNvSpPr/>
          <p:nvPr/>
        </p:nvSpPr>
        <p:spPr>
          <a:xfrm>
            <a:off x="12763500" y="2143125"/>
            <a:ext cx="4191000" cy="257175"/>
          </a:xfrm>
          <a:prstGeom prst="rect">
            <a:avLst/>
          </a:prstGeom>
          <a:noFill/>
        </p:spPr>
        <p:txBody>
          <a:bodyPr wrap="square" rtlCol="0" anchor="ctr"/>
          <a:lstStyle/>
          <a:p>
            <a:pPr marL="0" indent="0" algn="l">
              <a:buNone/>
            </a:pPr>
            <a:r>
              <a:rPr lang="en-US" sz="1350" b="1" dirty="0">
                <a:solidFill>
                  <a:srgbClr val="0F62FE"/>
                </a:solidFill>
                <a:latin typeface="Arial" panose="020B0604020202020204" pitchFamily="34" charset="0"/>
                <a:ea typeface="Inter" pitchFamily="34" charset="-122"/>
                <a:cs typeface="Arial" panose="020B0604020202020204" pitchFamily="34" charset="0"/>
              </a:rPr>
              <a:t>CHALLENGE  →  SOLUTION</a:t>
            </a:r>
            <a:endParaRPr lang="en-US" sz="1350" dirty="0">
              <a:latin typeface="Arial" panose="020B0604020202020204" pitchFamily="34" charset="0"/>
              <a:cs typeface="Arial" panose="020B0604020202020204" pitchFamily="34" charset="0"/>
            </a:endParaRPr>
          </a:p>
        </p:txBody>
      </p:sp>
      <p:sp>
        <p:nvSpPr>
          <p:cNvPr id="16" name="Text 9"/>
          <p:cNvSpPr/>
          <p:nvPr/>
        </p:nvSpPr>
        <p:spPr>
          <a:xfrm>
            <a:off x="12763500" y="2619375"/>
            <a:ext cx="2095500" cy="1219200"/>
          </a:xfrm>
          <a:prstGeom prst="rect">
            <a:avLst/>
          </a:prstGeom>
          <a:noFill/>
        </p:spPr>
        <p:txBody>
          <a:bodyPr wrap="square" rtlCol="0" anchor="ctr"/>
          <a:lstStyle/>
          <a:p>
            <a:pPr marL="0" indent="0" algn="l">
              <a:lnSpc>
                <a:spcPct val="135000"/>
              </a:lnSpc>
              <a:buNone/>
            </a:pPr>
            <a:r>
              <a:rPr lang="en-US" sz="1425" dirty="0">
                <a:solidFill>
                  <a:srgbClr val="697077"/>
                </a:solidFill>
                <a:latin typeface="Arial" panose="020B0604020202020204" pitchFamily="34" charset="0"/>
                <a:ea typeface="Inter" pitchFamily="34" charset="-122"/>
                <a:cs typeface="Arial" panose="020B0604020202020204" pitchFamily="34" charset="0"/>
              </a:rPr>
              <a:t>Siloed data</a:t>
            </a:r>
            <a:endParaRPr lang="en-US" sz="1425" dirty="0">
              <a:latin typeface="Arial" panose="020B0604020202020204" pitchFamily="34" charset="0"/>
              <a:cs typeface="Arial" panose="020B0604020202020204" pitchFamily="34" charset="0"/>
            </a:endParaRPr>
          </a:p>
          <a:p>
            <a:pPr marL="0" indent="0" algn="l">
              <a:lnSpc>
                <a:spcPct val="135000"/>
              </a:lnSpc>
              <a:buNone/>
            </a:pPr>
            <a:r>
              <a:rPr lang="en-US" sz="1425" dirty="0">
                <a:solidFill>
                  <a:srgbClr val="697077"/>
                </a:solidFill>
                <a:latin typeface="Arial" panose="020B0604020202020204" pitchFamily="34" charset="0"/>
                <a:ea typeface="Inter" pitchFamily="34" charset="-122"/>
                <a:cs typeface="Arial" panose="020B0604020202020204" pitchFamily="34" charset="0"/>
              </a:rPr>
              <a:t>Reactive repair</a:t>
            </a:r>
            <a:endParaRPr lang="en-US" sz="1425" dirty="0">
              <a:latin typeface="Arial" panose="020B0604020202020204" pitchFamily="34" charset="0"/>
              <a:cs typeface="Arial" panose="020B0604020202020204" pitchFamily="34" charset="0"/>
            </a:endParaRPr>
          </a:p>
          <a:p>
            <a:pPr marL="0" indent="0" algn="l">
              <a:lnSpc>
                <a:spcPct val="135000"/>
              </a:lnSpc>
              <a:buNone/>
            </a:pPr>
            <a:r>
              <a:rPr lang="en-US" sz="1425" dirty="0">
                <a:solidFill>
                  <a:srgbClr val="697077"/>
                </a:solidFill>
                <a:latin typeface="Arial" panose="020B0604020202020204" pitchFamily="34" charset="0"/>
                <a:ea typeface="Inter" pitchFamily="34" charset="-122"/>
                <a:cs typeface="Arial" panose="020B0604020202020204" pitchFamily="34" charset="0"/>
              </a:rPr>
              <a:t>Hidden risk</a:t>
            </a:r>
            <a:endParaRPr lang="en-US" sz="1425" dirty="0">
              <a:latin typeface="Arial" panose="020B0604020202020204" pitchFamily="34" charset="0"/>
              <a:cs typeface="Arial" panose="020B0604020202020204" pitchFamily="34" charset="0"/>
            </a:endParaRPr>
          </a:p>
          <a:p>
            <a:pPr marL="0" indent="0" algn="l">
              <a:lnSpc>
                <a:spcPct val="135000"/>
              </a:lnSpc>
              <a:buNone/>
            </a:pPr>
            <a:r>
              <a:rPr lang="en-US" sz="1425" dirty="0">
                <a:solidFill>
                  <a:srgbClr val="697077"/>
                </a:solidFill>
                <a:latin typeface="Arial" panose="020B0604020202020204" pitchFamily="34" charset="0"/>
                <a:ea typeface="Inter" pitchFamily="34" charset="-122"/>
                <a:cs typeface="Arial" panose="020B0604020202020204" pitchFamily="34" charset="0"/>
              </a:rPr>
              <a:t>Slow response</a:t>
            </a:r>
            <a:endParaRPr lang="en-US" sz="1425" dirty="0">
              <a:latin typeface="Arial" panose="020B0604020202020204" pitchFamily="34" charset="0"/>
              <a:cs typeface="Arial" panose="020B0604020202020204" pitchFamily="34" charset="0"/>
            </a:endParaRPr>
          </a:p>
          <a:p>
            <a:pPr marL="0" indent="0" algn="l">
              <a:lnSpc>
                <a:spcPct val="135000"/>
              </a:lnSpc>
              <a:buNone/>
            </a:pPr>
            <a:r>
              <a:rPr lang="en-US" sz="1425" dirty="0">
                <a:solidFill>
                  <a:srgbClr val="697077"/>
                </a:solidFill>
                <a:latin typeface="Arial" panose="020B0604020202020204" pitchFamily="34" charset="0"/>
                <a:ea typeface="Inter" pitchFamily="34" charset="-122"/>
                <a:cs typeface="Arial" panose="020B0604020202020204" pitchFamily="34" charset="0"/>
              </a:rPr>
              <a:t>No explanation</a:t>
            </a:r>
            <a:endParaRPr lang="en-US" sz="1425" dirty="0">
              <a:latin typeface="Arial" panose="020B0604020202020204" pitchFamily="34" charset="0"/>
              <a:cs typeface="Arial" panose="020B0604020202020204" pitchFamily="34" charset="0"/>
            </a:endParaRPr>
          </a:p>
        </p:txBody>
      </p:sp>
      <p:sp>
        <p:nvSpPr>
          <p:cNvPr id="17" name="Text 10"/>
          <p:cNvSpPr/>
          <p:nvPr/>
        </p:nvSpPr>
        <p:spPr>
          <a:xfrm>
            <a:off x="14954250" y="2619375"/>
            <a:ext cx="2190750" cy="1219200"/>
          </a:xfrm>
          <a:prstGeom prst="rect">
            <a:avLst/>
          </a:prstGeom>
          <a:noFill/>
        </p:spPr>
        <p:txBody>
          <a:bodyPr wrap="square" rtlCol="0" anchor="ctr"/>
          <a:lstStyle/>
          <a:p>
            <a:pPr marL="0" indent="0" algn="l">
              <a:lnSpc>
                <a:spcPct val="135000"/>
              </a:lnSpc>
              <a:buNone/>
            </a:pPr>
            <a:r>
              <a:rPr lang="en-US" sz="1425" b="1" dirty="0">
                <a:solidFill>
                  <a:srgbClr val="161616"/>
                </a:solidFill>
                <a:latin typeface="Arial" panose="020B0604020202020204" pitchFamily="34" charset="0"/>
                <a:ea typeface="Inter" pitchFamily="34" charset="-122"/>
                <a:cs typeface="Arial" panose="020B0604020202020204" pitchFamily="34" charset="0"/>
              </a:rPr>
              <a:t>Unified risk engine</a:t>
            </a:r>
            <a:endParaRPr lang="en-US" sz="1425" dirty="0">
              <a:latin typeface="Arial" panose="020B0604020202020204" pitchFamily="34" charset="0"/>
              <a:cs typeface="Arial" panose="020B0604020202020204" pitchFamily="34" charset="0"/>
            </a:endParaRPr>
          </a:p>
          <a:p>
            <a:pPr marL="0" indent="0" algn="l">
              <a:lnSpc>
                <a:spcPct val="135000"/>
              </a:lnSpc>
              <a:buNone/>
            </a:pPr>
            <a:r>
              <a:rPr lang="en-US" sz="1425" b="1" dirty="0">
                <a:solidFill>
                  <a:srgbClr val="161616"/>
                </a:solidFill>
                <a:latin typeface="Arial" panose="020B0604020202020204" pitchFamily="34" charset="0"/>
                <a:ea typeface="Inter" pitchFamily="34" charset="-122"/>
                <a:cs typeface="Arial" panose="020B0604020202020204" pitchFamily="34" charset="0"/>
              </a:rPr>
              <a:t>Predictive plan</a:t>
            </a:r>
            <a:endParaRPr lang="en-US" sz="1425" dirty="0">
              <a:latin typeface="Arial" panose="020B0604020202020204" pitchFamily="34" charset="0"/>
              <a:cs typeface="Arial" panose="020B0604020202020204" pitchFamily="34" charset="0"/>
            </a:endParaRPr>
          </a:p>
          <a:p>
            <a:pPr marL="0" indent="0" algn="l">
              <a:lnSpc>
                <a:spcPct val="135000"/>
              </a:lnSpc>
              <a:buNone/>
            </a:pPr>
            <a:r>
              <a:rPr lang="en-US" sz="1425" b="1" dirty="0">
                <a:solidFill>
                  <a:srgbClr val="161616"/>
                </a:solidFill>
                <a:latin typeface="Arial" panose="020B0604020202020204" pitchFamily="34" charset="0"/>
                <a:ea typeface="Inter" pitchFamily="34" charset="-122"/>
                <a:cs typeface="Arial" panose="020B0604020202020204" pitchFamily="34" charset="0"/>
              </a:rPr>
              <a:t>Composite score</a:t>
            </a:r>
            <a:endParaRPr lang="en-US" sz="1425" dirty="0">
              <a:latin typeface="Arial" panose="020B0604020202020204" pitchFamily="34" charset="0"/>
              <a:cs typeface="Arial" panose="020B0604020202020204" pitchFamily="34" charset="0"/>
            </a:endParaRPr>
          </a:p>
          <a:p>
            <a:pPr marL="0" indent="0" algn="l">
              <a:lnSpc>
                <a:spcPct val="135000"/>
              </a:lnSpc>
              <a:buNone/>
            </a:pPr>
            <a:r>
              <a:rPr lang="en-US" sz="1425" b="1" dirty="0">
                <a:solidFill>
                  <a:srgbClr val="161616"/>
                </a:solidFill>
                <a:latin typeface="Arial" panose="020B0604020202020204" pitchFamily="34" charset="0"/>
                <a:ea typeface="Inter" pitchFamily="34" charset="-122"/>
                <a:cs typeface="Arial" panose="020B0604020202020204" pitchFamily="34" charset="0"/>
              </a:rPr>
              <a:t>Crew pre-position</a:t>
            </a:r>
            <a:endParaRPr lang="en-US" sz="1425" dirty="0">
              <a:latin typeface="Arial" panose="020B0604020202020204" pitchFamily="34" charset="0"/>
              <a:cs typeface="Arial" panose="020B0604020202020204" pitchFamily="34" charset="0"/>
            </a:endParaRPr>
          </a:p>
          <a:p>
            <a:pPr marL="0" indent="0" algn="l">
              <a:lnSpc>
                <a:spcPct val="135000"/>
              </a:lnSpc>
              <a:buNone/>
            </a:pPr>
            <a:r>
              <a:rPr lang="en-US" sz="1425" b="1" dirty="0">
                <a:solidFill>
                  <a:srgbClr val="161616"/>
                </a:solidFill>
                <a:latin typeface="Arial" panose="020B0604020202020204" pitchFamily="34" charset="0"/>
                <a:ea typeface="Inter" pitchFamily="34" charset="-122"/>
                <a:cs typeface="Arial" panose="020B0604020202020204" pitchFamily="34" charset="0"/>
              </a:rPr>
              <a:t>Bob briefings</a:t>
            </a:r>
            <a:endParaRPr lang="en-US" sz="1425" dirty="0">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1047750" y="571500"/>
            <a:ext cx="95250" cy="476250"/>
          </a:xfrm>
          <a:prstGeom prst="rect">
            <a:avLst/>
          </a:prstGeom>
        </p:spPr>
      </p:pic>
      <p:sp>
        <p:nvSpPr>
          <p:cNvPr id="3" name="Text 0"/>
          <p:cNvSpPr/>
          <p:nvPr/>
        </p:nvSpPr>
        <p:spPr>
          <a:xfrm>
            <a:off x="1333500" y="428625"/>
            <a:ext cx="5715000" cy="285750"/>
          </a:xfrm>
          <a:prstGeom prst="rect">
            <a:avLst/>
          </a:prstGeom>
          <a:noFill/>
        </p:spPr>
        <p:txBody>
          <a:bodyPr wrap="square" rtlCol="0" anchor="ctr"/>
          <a:lstStyle/>
          <a:p>
            <a:pPr marL="0" indent="0" algn="l">
              <a:buNone/>
            </a:pPr>
            <a:r>
              <a:rPr lang="en-US" sz="1500" b="1" dirty="0">
                <a:solidFill>
                  <a:srgbClr val="0F62FE"/>
                </a:solidFill>
                <a:latin typeface="Arial" panose="020B0604020202020204" pitchFamily="34" charset="0"/>
                <a:ea typeface="Inter" pitchFamily="34" charset="-122"/>
                <a:cs typeface="Arial" panose="020B0604020202020204" pitchFamily="34" charset="0"/>
              </a:rPr>
              <a:t>03  /  SYSTEM ARCHITECTURE</a:t>
            </a:r>
            <a:endParaRPr lang="en-US" sz="1500" dirty="0">
              <a:latin typeface="Arial" panose="020B0604020202020204" pitchFamily="34" charset="0"/>
              <a:cs typeface="Arial" panose="020B0604020202020204" pitchFamily="34" charset="0"/>
            </a:endParaRPr>
          </a:p>
        </p:txBody>
      </p:sp>
      <p:sp>
        <p:nvSpPr>
          <p:cNvPr id="4" name="Text 1"/>
          <p:cNvSpPr/>
          <p:nvPr/>
        </p:nvSpPr>
        <p:spPr>
          <a:xfrm>
            <a:off x="1333500" y="714375"/>
            <a:ext cx="15240000" cy="571500"/>
          </a:xfrm>
          <a:prstGeom prst="rect">
            <a:avLst/>
          </a:prstGeom>
          <a:noFill/>
        </p:spPr>
        <p:txBody>
          <a:bodyPr wrap="square" rtlCol="0" anchor="ctr"/>
          <a:lstStyle/>
          <a:p>
            <a:pPr marL="0" indent="0" algn="l">
              <a:buNone/>
            </a:pPr>
            <a:r>
              <a:rPr lang="en-US" sz="3000" b="1" dirty="0">
                <a:solidFill>
                  <a:srgbClr val="001D6C"/>
                </a:solidFill>
                <a:latin typeface="Arial" panose="020B0604020202020204" pitchFamily="34" charset="0"/>
                <a:ea typeface="Inter" pitchFamily="34" charset="-122"/>
                <a:cs typeface="Arial" panose="020B0604020202020204" pitchFamily="34" charset="0"/>
              </a:rPr>
              <a:t>A modular system driving real-time outage prediction and advisory.</a:t>
            </a:r>
            <a:endParaRPr lang="en-US" sz="3000" dirty="0">
              <a:latin typeface="Arial" panose="020B0604020202020204" pitchFamily="34" charset="0"/>
              <a:cs typeface="Arial" panose="020B0604020202020204" pitchFamily="34" charset="0"/>
            </a:endParaRPr>
          </a:p>
        </p:txBody>
      </p:sp>
      <p:pic>
        <p:nvPicPr>
          <p:cNvPr id="5" name="Image 1" descr="preencoded.png"/>
          <p:cNvPicPr>
            <a:picLocks noChangeAspect="1"/>
          </p:cNvPicPr>
          <p:nvPr/>
        </p:nvPicPr>
        <p:blipFill>
          <a:blip r:embed="rId2"/>
          <a:stretch>
            <a:fillRect/>
          </a:stretch>
        </p:blipFill>
        <p:spPr>
          <a:xfrm>
            <a:off x="1047750" y="4000500"/>
            <a:ext cx="2095500" cy="1428750"/>
          </a:xfrm>
          <a:prstGeom prst="rect">
            <a:avLst/>
          </a:prstGeom>
        </p:spPr>
      </p:pic>
      <p:sp>
        <p:nvSpPr>
          <p:cNvPr id="6" name="Text 2"/>
          <p:cNvSpPr/>
          <p:nvPr/>
        </p:nvSpPr>
        <p:spPr>
          <a:xfrm>
            <a:off x="1238250" y="4429125"/>
            <a:ext cx="1714500" cy="314325"/>
          </a:xfrm>
          <a:prstGeom prst="rect">
            <a:avLst/>
          </a:prstGeom>
          <a:noFill/>
        </p:spPr>
        <p:txBody>
          <a:bodyPr wrap="square" rtlCol="0" anchor="ctr"/>
          <a:lstStyle/>
          <a:p>
            <a:pPr marL="0" indent="0" algn="ctr">
              <a:buNone/>
            </a:pPr>
            <a:r>
              <a:rPr lang="en-US" sz="1650" b="1" dirty="0">
                <a:solidFill>
                  <a:srgbClr val="161616"/>
                </a:solidFill>
                <a:latin typeface="Arial" panose="020B0604020202020204" pitchFamily="34" charset="0"/>
                <a:ea typeface="Inter" pitchFamily="34" charset="-122"/>
                <a:cs typeface="Arial" panose="020B0604020202020204" pitchFamily="34" charset="0"/>
              </a:rPr>
              <a:t>Utility Operator</a:t>
            </a:r>
            <a:endParaRPr lang="en-US" sz="1650" dirty="0">
              <a:latin typeface="Arial" panose="020B0604020202020204" pitchFamily="34" charset="0"/>
              <a:cs typeface="Arial" panose="020B0604020202020204" pitchFamily="34" charset="0"/>
            </a:endParaRPr>
          </a:p>
        </p:txBody>
      </p:sp>
      <p:pic>
        <p:nvPicPr>
          <p:cNvPr id="7" name="Image 2" descr="preencoded.png"/>
          <p:cNvPicPr>
            <a:picLocks noChangeAspect="1"/>
          </p:cNvPicPr>
          <p:nvPr/>
        </p:nvPicPr>
        <p:blipFill>
          <a:blip r:embed="rId3"/>
          <a:stretch>
            <a:fillRect/>
          </a:stretch>
        </p:blipFill>
        <p:spPr>
          <a:xfrm>
            <a:off x="3714750" y="4000500"/>
            <a:ext cx="2476500" cy="1428750"/>
          </a:xfrm>
          <a:prstGeom prst="rect">
            <a:avLst/>
          </a:prstGeom>
        </p:spPr>
      </p:pic>
      <p:sp>
        <p:nvSpPr>
          <p:cNvPr id="8" name="Text 3"/>
          <p:cNvSpPr/>
          <p:nvPr/>
        </p:nvSpPr>
        <p:spPr>
          <a:xfrm>
            <a:off x="3857625" y="4333875"/>
            <a:ext cx="2190750" cy="466725"/>
          </a:xfrm>
          <a:prstGeom prst="rect">
            <a:avLst/>
          </a:prstGeom>
          <a:noFill/>
        </p:spPr>
        <p:txBody>
          <a:bodyPr wrap="square" rtlCol="0" anchor="ctr"/>
          <a:lstStyle/>
          <a:p>
            <a:pPr marL="0" indent="0" algn="ctr">
              <a:lnSpc>
                <a:spcPct val="130000"/>
              </a:lnSpc>
              <a:buNone/>
            </a:pPr>
            <a:r>
              <a:rPr lang="en-US" sz="1425" b="1" dirty="0">
                <a:solidFill>
                  <a:srgbClr val="161616"/>
                </a:solidFill>
                <a:latin typeface="Arial" panose="020B0604020202020204" pitchFamily="34" charset="0"/>
                <a:ea typeface="Inter" pitchFamily="34" charset="-122"/>
                <a:cs typeface="Arial" panose="020B0604020202020204" pitchFamily="34" charset="0"/>
              </a:rPr>
              <a:t>React Dashboard Vite </a:t>
            </a:r>
            <a:endParaRPr lang="en-US" sz="1425" b="1" dirty="0">
              <a:solidFill>
                <a:srgbClr val="161616"/>
              </a:solidFill>
              <a:latin typeface="Arial" panose="020B0604020202020204" pitchFamily="34" charset="0"/>
              <a:ea typeface="Inter" pitchFamily="34" charset="-122"/>
              <a:cs typeface="Arial" panose="020B0604020202020204" pitchFamily="34" charset="0"/>
            </a:endParaRPr>
          </a:p>
          <a:p>
            <a:pPr marL="0" indent="0" algn="ctr">
              <a:lnSpc>
                <a:spcPct val="130000"/>
              </a:lnSpc>
              <a:buNone/>
            </a:pPr>
            <a:endParaRPr lang="en-US" sz="1425" b="1" dirty="0">
              <a:solidFill>
                <a:srgbClr val="161616"/>
              </a:solidFill>
              <a:latin typeface="Arial" panose="020B0604020202020204" pitchFamily="34" charset="0"/>
              <a:ea typeface="Inter" pitchFamily="34" charset="-122"/>
              <a:cs typeface="Arial" panose="020B0604020202020204" pitchFamily="34" charset="0"/>
            </a:endParaRPr>
          </a:p>
          <a:p>
            <a:pPr marL="0" indent="0" algn="ctr">
              <a:lnSpc>
                <a:spcPct val="130000"/>
              </a:lnSpc>
              <a:buNone/>
            </a:pPr>
            <a:r>
              <a:rPr lang="en-US" sz="1425" b="1" dirty="0">
                <a:solidFill>
                  <a:srgbClr val="161616"/>
                </a:solidFill>
                <a:latin typeface="Arial" panose="020B0604020202020204" pitchFamily="34" charset="0"/>
                <a:ea typeface="Inter" pitchFamily="34" charset="-122"/>
                <a:cs typeface="Arial" panose="020B0604020202020204" pitchFamily="34" charset="0"/>
              </a:rPr>
              <a:t>·Tailwind · Recharts</a:t>
            </a:r>
            <a:endParaRPr lang="en-US" sz="1425" dirty="0">
              <a:latin typeface="Arial" panose="020B0604020202020204" pitchFamily="34" charset="0"/>
              <a:cs typeface="Arial" panose="020B0604020202020204" pitchFamily="34" charset="0"/>
            </a:endParaRPr>
          </a:p>
        </p:txBody>
      </p:sp>
      <p:sp>
        <p:nvSpPr>
          <p:cNvPr id="9" name="Text 4"/>
          <p:cNvSpPr/>
          <p:nvPr/>
        </p:nvSpPr>
        <p:spPr>
          <a:xfrm>
            <a:off x="6238875" y="4429125"/>
            <a:ext cx="571500" cy="476250"/>
          </a:xfrm>
          <a:prstGeom prst="rect">
            <a:avLst/>
          </a:prstGeom>
          <a:noFill/>
        </p:spPr>
        <p:txBody>
          <a:bodyPr wrap="square" rtlCol="0" anchor="ctr"/>
          <a:lstStyle/>
          <a:p>
            <a:pPr marL="0" indent="0" algn="ctr">
              <a:buNone/>
            </a:pPr>
            <a:r>
              <a:rPr lang="en-US" sz="2550" b="1" dirty="0">
                <a:solidFill>
                  <a:srgbClr val="0F62FE"/>
                </a:solidFill>
                <a:latin typeface="Inter" pitchFamily="34" charset="0"/>
                <a:ea typeface="Inter" pitchFamily="34" charset="-122"/>
                <a:cs typeface="Inter" pitchFamily="34" charset="-120"/>
              </a:rPr>
              <a:t>→</a:t>
            </a:r>
            <a:endParaRPr lang="en-US" sz="2550" dirty="0"/>
          </a:p>
        </p:txBody>
      </p:sp>
      <p:sp>
        <p:nvSpPr>
          <p:cNvPr id="10" name="Text 5"/>
          <p:cNvSpPr/>
          <p:nvPr/>
        </p:nvSpPr>
        <p:spPr>
          <a:xfrm>
            <a:off x="6357620" y="4200525"/>
            <a:ext cx="952500" cy="228600"/>
          </a:xfrm>
          <a:prstGeom prst="rect">
            <a:avLst/>
          </a:prstGeom>
          <a:noFill/>
        </p:spPr>
        <p:txBody>
          <a:bodyPr wrap="square" rtlCol="0" anchor="ctr"/>
          <a:lstStyle/>
          <a:p>
            <a:pPr marL="0" indent="0" algn="ctr">
              <a:buNone/>
            </a:pPr>
            <a:r>
              <a:rPr lang="en-US" sz="1200" b="1" dirty="0">
                <a:solidFill>
                  <a:srgbClr val="697077"/>
                </a:solidFill>
                <a:latin typeface="Arial" panose="020B0604020202020204" pitchFamily="34" charset="0"/>
                <a:ea typeface="Inter" pitchFamily="34" charset="-122"/>
                <a:cs typeface="Arial" panose="020B0604020202020204" pitchFamily="34" charset="0"/>
              </a:rPr>
              <a:t>REST API</a:t>
            </a:r>
            <a:endParaRPr lang="en-US" sz="1200" dirty="0">
              <a:latin typeface="Arial" panose="020B0604020202020204" pitchFamily="34" charset="0"/>
              <a:cs typeface="Arial" panose="020B0604020202020204" pitchFamily="34" charset="0"/>
            </a:endParaRPr>
          </a:p>
        </p:txBody>
      </p:sp>
      <p:pic>
        <p:nvPicPr>
          <p:cNvPr id="11" name="Image 3" descr="preencoded.png"/>
          <p:cNvPicPr>
            <a:picLocks noChangeAspect="1"/>
          </p:cNvPicPr>
          <p:nvPr/>
        </p:nvPicPr>
        <p:blipFill>
          <a:blip r:embed="rId4"/>
          <a:stretch>
            <a:fillRect/>
          </a:stretch>
        </p:blipFill>
        <p:spPr>
          <a:xfrm>
            <a:off x="7429500" y="3714750"/>
            <a:ext cx="4381500" cy="2000250"/>
          </a:xfrm>
          <a:prstGeom prst="rect">
            <a:avLst/>
          </a:prstGeom>
        </p:spPr>
      </p:pic>
      <p:sp>
        <p:nvSpPr>
          <p:cNvPr id="12" name="Text 6"/>
          <p:cNvSpPr/>
          <p:nvPr/>
        </p:nvSpPr>
        <p:spPr>
          <a:xfrm>
            <a:off x="7620000" y="3857625"/>
            <a:ext cx="4000500" cy="314325"/>
          </a:xfrm>
          <a:prstGeom prst="rect">
            <a:avLst/>
          </a:prstGeom>
          <a:noFill/>
        </p:spPr>
        <p:txBody>
          <a:bodyPr wrap="square" rtlCol="0" anchor="ctr"/>
          <a:lstStyle/>
          <a:p>
            <a:pPr marL="0" indent="0" algn="ctr">
              <a:buNone/>
            </a:pPr>
            <a:r>
              <a:rPr lang="en-US" sz="1650" b="1" dirty="0">
                <a:solidFill>
                  <a:srgbClr val="FFFFFF"/>
                </a:solidFill>
                <a:latin typeface="Arial" panose="020B0604020202020204" pitchFamily="34" charset="0"/>
                <a:ea typeface="Inter" pitchFamily="34" charset="-122"/>
                <a:cs typeface="Arial" panose="020B0604020202020204" pitchFamily="34" charset="0"/>
              </a:rPr>
              <a:t>FastAPI Backend</a:t>
            </a:r>
            <a:endParaRPr lang="en-US" sz="1650" dirty="0">
              <a:latin typeface="Arial" panose="020B0604020202020204" pitchFamily="34" charset="0"/>
              <a:cs typeface="Arial" panose="020B0604020202020204" pitchFamily="34" charset="0"/>
            </a:endParaRPr>
          </a:p>
        </p:txBody>
      </p:sp>
      <p:sp>
        <p:nvSpPr>
          <p:cNvPr id="13" name="Text 7"/>
          <p:cNvSpPr/>
          <p:nvPr/>
        </p:nvSpPr>
        <p:spPr>
          <a:xfrm>
            <a:off x="7620000" y="4286250"/>
            <a:ext cx="4000500" cy="542925"/>
          </a:xfrm>
          <a:prstGeom prst="rect">
            <a:avLst/>
          </a:prstGeom>
          <a:noFill/>
        </p:spPr>
        <p:txBody>
          <a:bodyPr wrap="square" rtlCol="0" anchor="ctr"/>
          <a:lstStyle/>
          <a:p>
            <a:pPr marL="0" indent="0" algn="ctr">
              <a:lnSpc>
                <a:spcPct val="150000"/>
              </a:lnSpc>
              <a:buNone/>
            </a:pPr>
            <a:r>
              <a:rPr lang="en-US" sz="1425" dirty="0">
                <a:solidFill>
                  <a:srgbClr val="C9DDFF"/>
                </a:solidFill>
                <a:latin typeface="Arial" panose="020B0604020202020204" pitchFamily="34" charset="0"/>
                <a:ea typeface="Inter" pitchFamily="34" charset="-122"/>
                <a:cs typeface="Arial" panose="020B0604020202020204" pitchFamily="34" charset="0"/>
              </a:rPr>
              <a:t>Risk Engine · Maintenance Planner</a:t>
            </a:r>
            <a:endParaRPr lang="en-US" sz="1425" dirty="0">
              <a:latin typeface="Arial" panose="020B0604020202020204" pitchFamily="34" charset="0"/>
              <a:cs typeface="Arial" panose="020B0604020202020204" pitchFamily="34" charset="0"/>
            </a:endParaRPr>
          </a:p>
          <a:p>
            <a:pPr marL="0" indent="0" algn="ctr">
              <a:lnSpc>
                <a:spcPct val="150000"/>
              </a:lnSpc>
              <a:buNone/>
            </a:pPr>
            <a:r>
              <a:rPr lang="en-US" sz="1425" dirty="0">
                <a:solidFill>
                  <a:srgbClr val="C9DDFF"/>
                </a:solidFill>
                <a:latin typeface="Arial" panose="020B0604020202020204" pitchFamily="34" charset="0"/>
                <a:ea typeface="Inter" pitchFamily="34" charset="-122"/>
                <a:cs typeface="Arial" panose="020B0604020202020204" pitchFamily="34" charset="0"/>
              </a:rPr>
              <a:t>Crew Engine · Bob Advisor</a:t>
            </a:r>
            <a:endParaRPr lang="en-US" sz="1425" dirty="0">
              <a:latin typeface="Arial" panose="020B0604020202020204" pitchFamily="34" charset="0"/>
              <a:cs typeface="Arial" panose="020B0604020202020204" pitchFamily="34" charset="0"/>
            </a:endParaRPr>
          </a:p>
        </p:txBody>
      </p:sp>
      <p:sp>
        <p:nvSpPr>
          <p:cNvPr id="14" name="Text 8"/>
          <p:cNvSpPr/>
          <p:nvPr/>
        </p:nvSpPr>
        <p:spPr>
          <a:xfrm>
            <a:off x="11858625" y="4429125"/>
            <a:ext cx="571500" cy="476250"/>
          </a:xfrm>
          <a:prstGeom prst="rect">
            <a:avLst/>
          </a:prstGeom>
          <a:noFill/>
        </p:spPr>
        <p:txBody>
          <a:bodyPr wrap="square" rtlCol="0" anchor="ctr"/>
          <a:lstStyle/>
          <a:p>
            <a:pPr marL="0" indent="0" algn="ctr">
              <a:buNone/>
            </a:pPr>
            <a:r>
              <a:rPr lang="en-US" sz="2550" b="1" dirty="0">
                <a:solidFill>
                  <a:srgbClr val="0F62FE"/>
                </a:solidFill>
                <a:latin typeface="Inter" pitchFamily="34" charset="0"/>
                <a:ea typeface="Inter" pitchFamily="34" charset="-122"/>
                <a:cs typeface="Inter" pitchFamily="34" charset="-120"/>
              </a:rPr>
              <a:t>→</a:t>
            </a:r>
            <a:endParaRPr lang="en-US" sz="2550" dirty="0"/>
          </a:p>
        </p:txBody>
      </p:sp>
      <p:pic>
        <p:nvPicPr>
          <p:cNvPr id="15" name="Image 4" descr="preencoded.png"/>
          <p:cNvPicPr>
            <a:picLocks noChangeAspect="1"/>
          </p:cNvPicPr>
          <p:nvPr/>
        </p:nvPicPr>
        <p:blipFill>
          <a:blip r:embed="rId5"/>
          <a:stretch>
            <a:fillRect/>
          </a:stretch>
        </p:blipFill>
        <p:spPr>
          <a:xfrm>
            <a:off x="12477750" y="4000500"/>
            <a:ext cx="2571750" cy="1428750"/>
          </a:xfrm>
          <a:prstGeom prst="rect">
            <a:avLst/>
          </a:prstGeom>
        </p:spPr>
      </p:pic>
      <p:sp>
        <p:nvSpPr>
          <p:cNvPr id="16" name="Text 9"/>
          <p:cNvSpPr/>
          <p:nvPr/>
        </p:nvSpPr>
        <p:spPr>
          <a:xfrm>
            <a:off x="12620625" y="4286250"/>
            <a:ext cx="2286000" cy="733425"/>
          </a:xfrm>
          <a:prstGeom prst="rect">
            <a:avLst/>
          </a:prstGeom>
          <a:noFill/>
        </p:spPr>
        <p:txBody>
          <a:bodyPr wrap="square" rtlCol="0" anchor="ctr"/>
          <a:lstStyle/>
          <a:p>
            <a:pPr marL="0" indent="0" algn="ctr">
              <a:lnSpc>
                <a:spcPct val="135000"/>
              </a:lnSpc>
              <a:buNone/>
            </a:pPr>
            <a:r>
              <a:rPr lang="en-US" sz="1425" b="1" dirty="0">
                <a:solidFill>
                  <a:srgbClr val="FFFFFF"/>
                </a:solidFill>
                <a:latin typeface="Arial" panose="020B0604020202020204" pitchFamily="34" charset="0"/>
                <a:ea typeface="Inter" pitchFamily="34" charset="-122"/>
                <a:cs typeface="Arial" panose="020B0604020202020204" pitchFamily="34" charset="0"/>
              </a:rPr>
              <a:t>AI Layer</a:t>
            </a:r>
            <a:endParaRPr lang="en-US" sz="1425" dirty="0">
              <a:latin typeface="Arial" panose="020B0604020202020204" pitchFamily="34" charset="0"/>
              <a:cs typeface="Arial" panose="020B0604020202020204" pitchFamily="34" charset="0"/>
            </a:endParaRPr>
          </a:p>
          <a:p>
            <a:pPr marL="0" indent="0" algn="ctr">
              <a:lnSpc>
                <a:spcPct val="135000"/>
              </a:lnSpc>
              <a:buNone/>
            </a:pPr>
            <a:r>
              <a:rPr lang="en-US" sz="1425" b="1" dirty="0">
                <a:solidFill>
                  <a:srgbClr val="FFFFFF"/>
                </a:solidFill>
                <a:latin typeface="Arial" panose="020B0604020202020204" pitchFamily="34" charset="0"/>
                <a:ea typeface="Inter" pitchFamily="34" charset="-122"/>
                <a:cs typeface="Arial" panose="020B0604020202020204" pitchFamily="34" charset="0"/>
              </a:rPr>
              <a:t>watsonx.ai Granite</a:t>
            </a:r>
            <a:endParaRPr lang="en-US" sz="1425" dirty="0">
              <a:latin typeface="Arial" panose="020B0604020202020204" pitchFamily="34" charset="0"/>
              <a:cs typeface="Arial" panose="020B0604020202020204" pitchFamily="34" charset="0"/>
            </a:endParaRPr>
          </a:p>
          <a:p>
            <a:pPr marL="0" indent="0" algn="ctr">
              <a:lnSpc>
                <a:spcPct val="135000"/>
              </a:lnSpc>
              <a:buNone/>
            </a:pPr>
            <a:r>
              <a:rPr lang="en-US" sz="1425" b="1" dirty="0">
                <a:solidFill>
                  <a:srgbClr val="FFFFFF"/>
                </a:solidFill>
                <a:latin typeface="Arial" panose="020B0604020202020204" pitchFamily="34" charset="0"/>
                <a:ea typeface="Inter" pitchFamily="34" charset="-122"/>
                <a:cs typeface="Arial" panose="020B0604020202020204" pitchFamily="34" charset="0"/>
              </a:rPr>
              <a:t>Rule-based fallback</a:t>
            </a:r>
            <a:endParaRPr lang="en-US" sz="1425" dirty="0">
              <a:latin typeface="Arial" panose="020B0604020202020204" pitchFamily="34" charset="0"/>
              <a:cs typeface="Arial" panose="020B0604020202020204" pitchFamily="34" charset="0"/>
            </a:endParaRPr>
          </a:p>
        </p:txBody>
      </p:sp>
      <p:sp>
        <p:nvSpPr>
          <p:cNvPr id="17" name="Text 10"/>
          <p:cNvSpPr/>
          <p:nvPr/>
        </p:nvSpPr>
        <p:spPr>
          <a:xfrm>
            <a:off x="15240000" y="4429125"/>
            <a:ext cx="571500" cy="476250"/>
          </a:xfrm>
          <a:prstGeom prst="rect">
            <a:avLst/>
          </a:prstGeom>
          <a:noFill/>
        </p:spPr>
        <p:txBody>
          <a:bodyPr wrap="square" rtlCol="0" anchor="ctr"/>
          <a:lstStyle/>
          <a:p>
            <a:pPr marL="0" indent="0" algn="ctr">
              <a:buNone/>
            </a:pPr>
            <a:r>
              <a:rPr lang="en-US" sz="2550" b="1" dirty="0">
                <a:solidFill>
                  <a:srgbClr val="0F62FE"/>
                </a:solidFill>
                <a:latin typeface="Inter" pitchFamily="34" charset="0"/>
                <a:ea typeface="Inter" pitchFamily="34" charset="-122"/>
                <a:cs typeface="Inter" pitchFamily="34" charset="-120"/>
              </a:rPr>
              <a:t>→</a:t>
            </a:r>
            <a:endParaRPr lang="en-US" sz="2550" dirty="0"/>
          </a:p>
        </p:txBody>
      </p:sp>
      <p:pic>
        <p:nvPicPr>
          <p:cNvPr id="18" name="Image 5" descr="preencoded.png"/>
          <p:cNvPicPr>
            <a:picLocks noChangeAspect="1"/>
          </p:cNvPicPr>
          <p:nvPr/>
        </p:nvPicPr>
        <p:blipFill>
          <a:blip r:embed="rId6"/>
          <a:stretch>
            <a:fillRect/>
          </a:stretch>
        </p:blipFill>
        <p:spPr>
          <a:xfrm>
            <a:off x="15811500" y="4000500"/>
            <a:ext cx="1524000" cy="1428750"/>
          </a:xfrm>
          <a:prstGeom prst="rect">
            <a:avLst/>
          </a:prstGeom>
        </p:spPr>
      </p:pic>
      <p:sp>
        <p:nvSpPr>
          <p:cNvPr id="19" name="Text 11"/>
          <p:cNvSpPr/>
          <p:nvPr/>
        </p:nvSpPr>
        <p:spPr>
          <a:xfrm>
            <a:off x="15954375" y="4429125"/>
            <a:ext cx="1238250" cy="428625"/>
          </a:xfrm>
          <a:prstGeom prst="rect">
            <a:avLst/>
          </a:prstGeom>
          <a:noFill/>
        </p:spPr>
        <p:txBody>
          <a:bodyPr wrap="square" rtlCol="0" anchor="ctr"/>
          <a:lstStyle/>
          <a:p>
            <a:pPr marL="0" indent="0" algn="ctr">
              <a:lnSpc>
                <a:spcPct val="125000"/>
              </a:lnSpc>
              <a:buNone/>
            </a:pPr>
            <a:r>
              <a:rPr lang="en-US" sz="1350" b="1" dirty="0">
                <a:solidFill>
                  <a:srgbClr val="161616"/>
                </a:solidFill>
                <a:latin typeface="Arial" panose="020B0604020202020204" pitchFamily="34" charset="0"/>
                <a:ea typeface="Inter" pitchFamily="34" charset="-122"/>
                <a:cs typeface="Arial" panose="020B0604020202020204" pitchFamily="34" charset="0"/>
              </a:rPr>
              <a:t>SQLite Database</a:t>
            </a:r>
            <a:endParaRPr lang="en-US" sz="1350" dirty="0">
              <a:latin typeface="Arial" panose="020B0604020202020204" pitchFamily="34" charset="0"/>
              <a:cs typeface="Arial" panose="020B0604020202020204" pitchFamily="34" charset="0"/>
            </a:endParaRPr>
          </a:p>
        </p:txBody>
      </p:sp>
      <p:pic>
        <p:nvPicPr>
          <p:cNvPr id="20" name="Image 6" descr="preencoded.png"/>
          <p:cNvPicPr>
            <a:picLocks noChangeAspect="1"/>
          </p:cNvPicPr>
          <p:nvPr/>
        </p:nvPicPr>
        <p:blipFill>
          <a:blip r:embed="rId7"/>
          <a:stretch>
            <a:fillRect/>
          </a:stretch>
        </p:blipFill>
        <p:spPr>
          <a:xfrm>
            <a:off x="7429500" y="6477000"/>
            <a:ext cx="2857500" cy="762000"/>
          </a:xfrm>
          <a:prstGeom prst="rect">
            <a:avLst/>
          </a:prstGeom>
        </p:spPr>
      </p:pic>
      <p:sp>
        <p:nvSpPr>
          <p:cNvPr id="21" name="Text 12"/>
          <p:cNvSpPr/>
          <p:nvPr/>
        </p:nvSpPr>
        <p:spPr>
          <a:xfrm>
            <a:off x="7572375" y="6715125"/>
            <a:ext cx="2571750" cy="285750"/>
          </a:xfrm>
          <a:prstGeom prst="rect">
            <a:avLst/>
          </a:prstGeom>
          <a:noFill/>
        </p:spPr>
        <p:txBody>
          <a:bodyPr wrap="square" rtlCol="0" anchor="ctr"/>
          <a:lstStyle/>
          <a:p>
            <a:pPr marL="0" indent="0" algn="ctr">
              <a:buNone/>
            </a:pPr>
            <a:r>
              <a:rPr lang="en-US" sz="1500" b="1" dirty="0">
                <a:solidFill>
                  <a:srgbClr val="001D6C"/>
                </a:solidFill>
                <a:latin typeface="Arial" panose="020B0604020202020204" pitchFamily="34" charset="0"/>
                <a:ea typeface="Inter" pitchFamily="34" charset="-122"/>
                <a:cs typeface="Arial" panose="020B0604020202020204" pitchFamily="34" charset="0"/>
              </a:rPr>
              <a:t>IBM Bob Skill</a:t>
            </a:r>
            <a:endParaRPr lang="en-US" sz="1500" dirty="0">
              <a:latin typeface="Arial" panose="020B0604020202020204" pitchFamily="34" charset="0"/>
              <a:cs typeface="Arial" panose="020B0604020202020204" pitchFamily="34" charset="0"/>
            </a:endParaRPr>
          </a:p>
        </p:txBody>
      </p:sp>
      <p:pic>
        <p:nvPicPr>
          <p:cNvPr id="22" name="Image 7" descr="preencoded.png"/>
          <p:cNvPicPr>
            <a:picLocks noChangeAspect="1"/>
          </p:cNvPicPr>
          <p:nvPr/>
        </p:nvPicPr>
        <p:blipFill>
          <a:blip r:embed="rId8"/>
          <a:stretch>
            <a:fillRect/>
          </a:stretch>
        </p:blipFill>
        <p:spPr>
          <a:xfrm>
            <a:off x="10572750" y="6477000"/>
            <a:ext cx="3238500" cy="762000"/>
          </a:xfrm>
          <a:prstGeom prst="rect">
            <a:avLst/>
          </a:prstGeom>
        </p:spPr>
      </p:pic>
      <p:sp>
        <p:nvSpPr>
          <p:cNvPr id="23" name="Text 13"/>
          <p:cNvSpPr/>
          <p:nvPr/>
        </p:nvSpPr>
        <p:spPr>
          <a:xfrm>
            <a:off x="10715625" y="6715125"/>
            <a:ext cx="2952750" cy="285750"/>
          </a:xfrm>
          <a:prstGeom prst="rect">
            <a:avLst/>
          </a:prstGeom>
          <a:noFill/>
        </p:spPr>
        <p:txBody>
          <a:bodyPr wrap="square" rtlCol="0" anchor="ctr"/>
          <a:lstStyle/>
          <a:p>
            <a:pPr marL="0" indent="0" algn="ctr">
              <a:buNone/>
            </a:pPr>
            <a:r>
              <a:rPr lang="en-US" sz="1500" b="1" dirty="0">
                <a:solidFill>
                  <a:srgbClr val="001D6C"/>
                </a:solidFill>
                <a:latin typeface="Arial" panose="020B0604020202020204" pitchFamily="34" charset="0"/>
                <a:ea typeface="Inter" pitchFamily="34" charset="-122"/>
                <a:cs typeface="Arial" panose="020B0604020202020204" pitchFamily="34" charset="0"/>
              </a:rPr>
              <a:t>Docker + Render Deployment</a:t>
            </a:r>
            <a:endParaRPr lang="en-US" sz="1500" dirty="0">
              <a:latin typeface="Arial" panose="020B0604020202020204" pitchFamily="34" charset="0"/>
              <a:cs typeface="Arial" panose="020B0604020202020204" pitchFamily="34" charset="0"/>
            </a:endParaRPr>
          </a:p>
        </p:txBody>
      </p:sp>
      <p:sp>
        <p:nvSpPr>
          <p:cNvPr id="24" name="Text 14"/>
          <p:cNvSpPr/>
          <p:nvPr/>
        </p:nvSpPr>
        <p:spPr>
          <a:xfrm>
            <a:off x="1047750" y="2000250"/>
            <a:ext cx="8572500" cy="314325"/>
          </a:xfrm>
          <a:prstGeom prst="rect">
            <a:avLst/>
          </a:prstGeom>
          <a:noFill/>
        </p:spPr>
        <p:txBody>
          <a:bodyPr wrap="square" rtlCol="0" anchor="ctr"/>
          <a:lstStyle/>
          <a:p>
            <a:pPr marL="0" indent="0" algn="l">
              <a:buNone/>
            </a:pPr>
            <a:r>
              <a:rPr lang="en-US" sz="1650" dirty="0">
                <a:solidFill>
                  <a:srgbClr val="697077"/>
                </a:solidFill>
                <a:latin typeface="Arial" panose="020B0604020202020204" pitchFamily="34" charset="0"/>
                <a:ea typeface="Inter" pitchFamily="34" charset="-122"/>
                <a:cs typeface="Arial" panose="020B0604020202020204" pitchFamily="34" charset="0"/>
              </a:rPr>
              <a:t>End-to-end data flow from operator to prediction</a:t>
            </a:r>
            <a:endParaRPr lang="en-US" sz="1650" dirty="0">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1047750" y="571500"/>
            <a:ext cx="95250" cy="476250"/>
          </a:xfrm>
          <a:prstGeom prst="rect">
            <a:avLst/>
          </a:prstGeom>
        </p:spPr>
      </p:pic>
      <p:sp>
        <p:nvSpPr>
          <p:cNvPr id="3" name="Text 0"/>
          <p:cNvSpPr/>
          <p:nvPr/>
        </p:nvSpPr>
        <p:spPr>
          <a:xfrm>
            <a:off x="1333500" y="428625"/>
            <a:ext cx="6667500" cy="285750"/>
          </a:xfrm>
          <a:prstGeom prst="rect">
            <a:avLst/>
          </a:prstGeom>
          <a:noFill/>
        </p:spPr>
        <p:txBody>
          <a:bodyPr wrap="square" rtlCol="0" anchor="ctr"/>
          <a:lstStyle/>
          <a:p>
            <a:pPr marL="0" indent="0" algn="l">
              <a:buNone/>
            </a:pPr>
            <a:r>
              <a:rPr lang="en-US" sz="1500" b="1" dirty="0">
                <a:solidFill>
                  <a:srgbClr val="0F62FE"/>
                </a:solidFill>
                <a:latin typeface="Arial" panose="020B0604020202020204" pitchFamily="34" charset="0"/>
                <a:ea typeface="Inter" pitchFamily="34" charset="-122"/>
                <a:cs typeface="Arial" panose="020B0604020202020204" pitchFamily="34" charset="0"/>
              </a:rPr>
              <a:t>04  /  AI RISK SCORING ENGINE</a:t>
            </a:r>
            <a:endParaRPr lang="en-US" sz="1500" dirty="0">
              <a:latin typeface="Arial" panose="020B0604020202020204" pitchFamily="34" charset="0"/>
              <a:cs typeface="Arial" panose="020B0604020202020204" pitchFamily="34" charset="0"/>
            </a:endParaRPr>
          </a:p>
        </p:txBody>
      </p:sp>
      <p:sp>
        <p:nvSpPr>
          <p:cNvPr id="4" name="Text 1"/>
          <p:cNvSpPr/>
          <p:nvPr/>
        </p:nvSpPr>
        <p:spPr>
          <a:xfrm>
            <a:off x="1333500" y="714375"/>
            <a:ext cx="15240000" cy="571500"/>
          </a:xfrm>
          <a:prstGeom prst="rect">
            <a:avLst/>
          </a:prstGeom>
          <a:noFill/>
        </p:spPr>
        <p:txBody>
          <a:bodyPr wrap="square" rtlCol="0" anchor="ctr"/>
          <a:lstStyle/>
          <a:p>
            <a:pPr marL="0" indent="0" algn="l">
              <a:buNone/>
            </a:pPr>
            <a:r>
              <a:rPr lang="en-US" sz="3000" b="1" dirty="0">
                <a:solidFill>
                  <a:srgbClr val="001D6C"/>
                </a:solidFill>
                <a:latin typeface="Arial" panose="020B0604020202020204" pitchFamily="34" charset="0"/>
                <a:ea typeface="Inter" pitchFamily="34" charset="-122"/>
                <a:cs typeface="Arial" panose="020B0604020202020204" pitchFamily="34" charset="0"/>
              </a:rPr>
              <a:t>A composite risk score leverages sensor, weather, and history data.</a:t>
            </a:r>
            <a:endParaRPr lang="en-US" sz="3000" dirty="0">
              <a:latin typeface="Arial" panose="020B0604020202020204" pitchFamily="34" charset="0"/>
              <a:cs typeface="Arial" panose="020B0604020202020204" pitchFamily="34" charset="0"/>
            </a:endParaRPr>
          </a:p>
        </p:txBody>
      </p:sp>
      <p:pic>
        <p:nvPicPr>
          <p:cNvPr id="5" name="Image 1" descr="preencoded.png">
            <a:hlinkClick r:id="rId2"/>
          </p:cNvPr>
          <p:cNvPicPr>
            <a:picLocks noChangeAspect="1"/>
          </p:cNvPicPr>
          <p:nvPr/>
        </p:nvPicPr>
        <p:blipFill>
          <a:blip r:embed="rId3"/>
          <a:stretch>
            <a:fillRect/>
          </a:stretch>
        </p:blipFill>
        <p:spPr>
          <a:xfrm>
            <a:off x="1047750" y="1905000"/>
            <a:ext cx="8382000" cy="2190750"/>
          </a:xfrm>
          <a:prstGeom prst="rect">
            <a:avLst/>
          </a:prstGeom>
        </p:spPr>
      </p:pic>
      <p:sp>
        <p:nvSpPr>
          <p:cNvPr id="6" name="Text 2"/>
          <p:cNvSpPr/>
          <p:nvPr/>
        </p:nvSpPr>
        <p:spPr>
          <a:xfrm>
            <a:off x="1428750" y="2143125"/>
            <a:ext cx="7620000" cy="257175"/>
          </a:xfrm>
          <a:prstGeom prst="rect">
            <a:avLst/>
          </a:prstGeom>
          <a:noFill/>
        </p:spPr>
        <p:txBody>
          <a:bodyPr wrap="square" rtlCol="0" anchor="ctr"/>
          <a:lstStyle/>
          <a:p>
            <a:pPr marL="0" indent="0" algn="l">
              <a:buNone/>
            </a:pPr>
            <a:r>
              <a:rPr lang="en-US" sz="1350" b="1" dirty="0">
                <a:solidFill>
                  <a:srgbClr val="0F62FE"/>
                </a:solidFill>
                <a:latin typeface="Arial" panose="020B0604020202020204" pitchFamily="34" charset="0"/>
                <a:ea typeface="Inter" pitchFamily="34" charset="-122"/>
                <a:cs typeface="Arial" panose="020B0604020202020204" pitchFamily="34" charset="0"/>
              </a:rPr>
              <a:t>COMPOSITE RISK SCORE</a:t>
            </a:r>
            <a:endParaRPr lang="en-US" sz="1350" dirty="0">
              <a:latin typeface="Arial" panose="020B0604020202020204" pitchFamily="34" charset="0"/>
              <a:cs typeface="Arial" panose="020B0604020202020204" pitchFamily="34" charset="0"/>
            </a:endParaRPr>
          </a:p>
        </p:txBody>
      </p:sp>
      <p:sp>
        <p:nvSpPr>
          <p:cNvPr id="7" name="Text 3"/>
          <p:cNvSpPr/>
          <p:nvPr/>
        </p:nvSpPr>
        <p:spPr>
          <a:xfrm>
            <a:off x="1047750" y="4476750"/>
            <a:ext cx="8382000" cy="257175"/>
          </a:xfrm>
          <a:prstGeom prst="rect">
            <a:avLst/>
          </a:prstGeom>
          <a:noFill/>
        </p:spPr>
        <p:txBody>
          <a:bodyPr wrap="square" rtlCol="0" anchor="ctr"/>
          <a:lstStyle/>
          <a:p>
            <a:pPr marL="0" indent="0" algn="l">
              <a:buNone/>
            </a:pPr>
            <a:r>
              <a:rPr lang="en-US" sz="1350" b="1" dirty="0">
                <a:solidFill>
                  <a:srgbClr val="697077"/>
                </a:solidFill>
                <a:latin typeface="Arial" panose="020B0604020202020204" pitchFamily="34" charset="0"/>
                <a:ea typeface="Inter" pitchFamily="34" charset="-122"/>
                <a:cs typeface="Arial" panose="020B0604020202020204" pitchFamily="34" charset="0"/>
              </a:rPr>
              <a:t>SEVERITY THRESHOLDS</a:t>
            </a:r>
            <a:endParaRPr lang="en-US" sz="1350" dirty="0">
              <a:latin typeface="Arial" panose="020B0604020202020204" pitchFamily="34" charset="0"/>
              <a:cs typeface="Arial" panose="020B0604020202020204" pitchFamily="34" charset="0"/>
            </a:endParaRPr>
          </a:p>
        </p:txBody>
      </p:sp>
      <p:pic>
        <p:nvPicPr>
          <p:cNvPr id="8" name="Image 2" descr="preencoded.png"/>
          <p:cNvPicPr>
            <a:picLocks noChangeAspect="1"/>
          </p:cNvPicPr>
          <p:nvPr/>
        </p:nvPicPr>
        <p:blipFill>
          <a:blip r:embed="rId4"/>
          <a:stretch>
            <a:fillRect/>
          </a:stretch>
        </p:blipFill>
        <p:spPr>
          <a:xfrm>
            <a:off x="1047750" y="4905375"/>
            <a:ext cx="1952625" cy="1047750"/>
          </a:xfrm>
          <a:prstGeom prst="rect">
            <a:avLst/>
          </a:prstGeom>
        </p:spPr>
      </p:pic>
      <p:sp>
        <p:nvSpPr>
          <p:cNvPr id="9" name="Text 4"/>
          <p:cNvSpPr/>
          <p:nvPr/>
        </p:nvSpPr>
        <p:spPr>
          <a:xfrm>
            <a:off x="1190625" y="5143500"/>
            <a:ext cx="1666875" cy="590550"/>
          </a:xfrm>
          <a:prstGeom prst="rect">
            <a:avLst/>
          </a:prstGeom>
          <a:noFill/>
        </p:spPr>
        <p:txBody>
          <a:bodyPr wrap="square" rtlCol="0" anchor="ctr"/>
          <a:lstStyle/>
          <a:p>
            <a:pPr marL="0" indent="0" algn="ctr">
              <a:lnSpc>
                <a:spcPct val="130000"/>
              </a:lnSpc>
              <a:buNone/>
            </a:pPr>
            <a:r>
              <a:rPr lang="en-US" sz="1800" b="1" dirty="0">
                <a:solidFill>
                  <a:srgbClr val="FFFFFF"/>
                </a:solidFill>
                <a:latin typeface="Arial" panose="020B0604020202020204" pitchFamily="34" charset="0"/>
                <a:ea typeface="Inter" pitchFamily="34" charset="-122"/>
                <a:cs typeface="Arial" panose="020B0604020202020204" pitchFamily="34" charset="0"/>
              </a:rPr>
              <a:t>CRITICAL</a:t>
            </a:r>
            <a:endParaRPr lang="en-US" sz="1800" dirty="0">
              <a:latin typeface="Arial" panose="020B0604020202020204" pitchFamily="34" charset="0"/>
              <a:cs typeface="Arial" panose="020B0604020202020204" pitchFamily="34" charset="0"/>
            </a:endParaRPr>
          </a:p>
          <a:p>
            <a:pPr marL="0" indent="0" algn="ctr">
              <a:lnSpc>
                <a:spcPct val="130000"/>
              </a:lnSpc>
              <a:buNone/>
            </a:pPr>
            <a:r>
              <a:rPr lang="en-US" sz="1800" b="1" dirty="0">
                <a:solidFill>
                  <a:srgbClr val="FFFFFF"/>
                </a:solidFill>
                <a:latin typeface="Arial" panose="020B0604020202020204" pitchFamily="34" charset="0"/>
                <a:ea typeface="Inter" pitchFamily="34" charset="-122"/>
                <a:cs typeface="Arial" panose="020B0604020202020204" pitchFamily="34" charset="0"/>
              </a:rPr>
              <a:t>≥ 75%</a:t>
            </a:r>
            <a:endParaRPr lang="en-US" sz="1800" dirty="0">
              <a:latin typeface="Arial" panose="020B0604020202020204" pitchFamily="34" charset="0"/>
              <a:cs typeface="Arial" panose="020B0604020202020204" pitchFamily="34" charset="0"/>
            </a:endParaRPr>
          </a:p>
        </p:txBody>
      </p:sp>
      <p:pic>
        <p:nvPicPr>
          <p:cNvPr id="10" name="Image 3" descr="preencoded.png"/>
          <p:cNvPicPr>
            <a:picLocks noChangeAspect="1"/>
          </p:cNvPicPr>
          <p:nvPr/>
        </p:nvPicPr>
        <p:blipFill>
          <a:blip r:embed="rId5"/>
          <a:stretch>
            <a:fillRect/>
          </a:stretch>
        </p:blipFill>
        <p:spPr>
          <a:xfrm>
            <a:off x="3190875" y="4905375"/>
            <a:ext cx="1952625" cy="1047750"/>
          </a:xfrm>
          <a:prstGeom prst="rect">
            <a:avLst/>
          </a:prstGeom>
        </p:spPr>
      </p:pic>
      <p:sp>
        <p:nvSpPr>
          <p:cNvPr id="11" name="Text 5"/>
          <p:cNvSpPr/>
          <p:nvPr/>
        </p:nvSpPr>
        <p:spPr>
          <a:xfrm>
            <a:off x="3333750" y="5143500"/>
            <a:ext cx="1666875" cy="590550"/>
          </a:xfrm>
          <a:prstGeom prst="rect">
            <a:avLst/>
          </a:prstGeom>
          <a:noFill/>
        </p:spPr>
        <p:txBody>
          <a:bodyPr wrap="square" rtlCol="0" anchor="ctr"/>
          <a:lstStyle/>
          <a:p>
            <a:pPr marL="0" indent="0" algn="ctr">
              <a:lnSpc>
                <a:spcPct val="130000"/>
              </a:lnSpc>
              <a:buNone/>
            </a:pPr>
            <a:r>
              <a:rPr lang="en-US" sz="1800" b="1" dirty="0">
                <a:solidFill>
                  <a:srgbClr val="FFFFFF"/>
                </a:solidFill>
                <a:latin typeface="Arial" panose="020B0604020202020204" pitchFamily="34" charset="0"/>
                <a:ea typeface="Inter" pitchFamily="34" charset="-122"/>
                <a:cs typeface="Arial" panose="020B0604020202020204" pitchFamily="34" charset="0"/>
              </a:rPr>
              <a:t>HIGH</a:t>
            </a:r>
            <a:endParaRPr lang="en-US" sz="1800" dirty="0">
              <a:latin typeface="Arial" panose="020B0604020202020204" pitchFamily="34" charset="0"/>
              <a:cs typeface="Arial" panose="020B0604020202020204" pitchFamily="34" charset="0"/>
            </a:endParaRPr>
          </a:p>
          <a:p>
            <a:pPr marL="0" indent="0" algn="ctr">
              <a:lnSpc>
                <a:spcPct val="130000"/>
              </a:lnSpc>
              <a:buNone/>
            </a:pPr>
            <a:r>
              <a:rPr lang="en-US" sz="1800" b="1" dirty="0">
                <a:solidFill>
                  <a:srgbClr val="FFFFFF"/>
                </a:solidFill>
                <a:latin typeface="Arial" panose="020B0604020202020204" pitchFamily="34" charset="0"/>
                <a:ea typeface="Inter" pitchFamily="34" charset="-122"/>
                <a:cs typeface="Arial" panose="020B0604020202020204" pitchFamily="34" charset="0"/>
              </a:rPr>
              <a:t>≥ 55%</a:t>
            </a:r>
            <a:endParaRPr lang="en-US" sz="1800" dirty="0">
              <a:latin typeface="Arial" panose="020B0604020202020204" pitchFamily="34" charset="0"/>
              <a:cs typeface="Arial" panose="020B0604020202020204" pitchFamily="34" charset="0"/>
            </a:endParaRPr>
          </a:p>
        </p:txBody>
      </p:sp>
      <p:pic>
        <p:nvPicPr>
          <p:cNvPr id="12" name="Image 4" descr="preencoded.png"/>
          <p:cNvPicPr>
            <a:picLocks noChangeAspect="1"/>
          </p:cNvPicPr>
          <p:nvPr/>
        </p:nvPicPr>
        <p:blipFill>
          <a:blip r:embed="rId6"/>
          <a:stretch>
            <a:fillRect/>
          </a:stretch>
        </p:blipFill>
        <p:spPr>
          <a:xfrm>
            <a:off x="5334000" y="4905375"/>
            <a:ext cx="1952625" cy="1047750"/>
          </a:xfrm>
          <a:prstGeom prst="rect">
            <a:avLst/>
          </a:prstGeom>
        </p:spPr>
      </p:pic>
      <p:sp>
        <p:nvSpPr>
          <p:cNvPr id="13" name="Text 6"/>
          <p:cNvSpPr/>
          <p:nvPr/>
        </p:nvSpPr>
        <p:spPr>
          <a:xfrm>
            <a:off x="5476875" y="5143500"/>
            <a:ext cx="1666875" cy="590550"/>
          </a:xfrm>
          <a:prstGeom prst="rect">
            <a:avLst/>
          </a:prstGeom>
          <a:noFill/>
        </p:spPr>
        <p:txBody>
          <a:bodyPr wrap="square" rtlCol="0" anchor="ctr"/>
          <a:lstStyle/>
          <a:p>
            <a:pPr marL="0" indent="0" algn="ctr">
              <a:lnSpc>
                <a:spcPct val="130000"/>
              </a:lnSpc>
              <a:buNone/>
            </a:pPr>
            <a:r>
              <a:rPr lang="en-US" sz="1800" b="1" dirty="0">
                <a:solidFill>
                  <a:srgbClr val="161616"/>
                </a:solidFill>
                <a:latin typeface="Arial" panose="020B0604020202020204" pitchFamily="34" charset="0"/>
                <a:ea typeface="Inter" pitchFamily="34" charset="-122"/>
                <a:cs typeface="Arial" panose="020B0604020202020204" pitchFamily="34" charset="0"/>
              </a:rPr>
              <a:t>MEDIUM</a:t>
            </a:r>
            <a:endParaRPr lang="en-US" sz="1800" dirty="0">
              <a:latin typeface="Arial" panose="020B0604020202020204" pitchFamily="34" charset="0"/>
              <a:cs typeface="Arial" panose="020B0604020202020204" pitchFamily="34" charset="0"/>
            </a:endParaRPr>
          </a:p>
          <a:p>
            <a:pPr marL="0" indent="0" algn="ctr">
              <a:lnSpc>
                <a:spcPct val="130000"/>
              </a:lnSpc>
              <a:buNone/>
            </a:pPr>
            <a:r>
              <a:rPr lang="en-US" sz="1800" b="1" dirty="0">
                <a:solidFill>
                  <a:srgbClr val="161616"/>
                </a:solidFill>
                <a:latin typeface="Arial" panose="020B0604020202020204" pitchFamily="34" charset="0"/>
                <a:ea typeface="Inter" pitchFamily="34" charset="-122"/>
                <a:cs typeface="Arial" panose="020B0604020202020204" pitchFamily="34" charset="0"/>
              </a:rPr>
              <a:t>≥ 35%</a:t>
            </a:r>
            <a:endParaRPr lang="en-US" sz="1800" dirty="0">
              <a:latin typeface="Arial" panose="020B0604020202020204" pitchFamily="34" charset="0"/>
              <a:cs typeface="Arial" panose="020B0604020202020204" pitchFamily="34" charset="0"/>
            </a:endParaRPr>
          </a:p>
        </p:txBody>
      </p:sp>
      <p:pic>
        <p:nvPicPr>
          <p:cNvPr id="14" name="Image 5" descr="preencoded.png"/>
          <p:cNvPicPr>
            <a:picLocks noChangeAspect="1"/>
          </p:cNvPicPr>
          <p:nvPr/>
        </p:nvPicPr>
        <p:blipFill>
          <a:blip r:embed="rId7"/>
          <a:stretch>
            <a:fillRect/>
          </a:stretch>
        </p:blipFill>
        <p:spPr>
          <a:xfrm>
            <a:off x="7477125" y="4905375"/>
            <a:ext cx="1952625" cy="1047750"/>
          </a:xfrm>
          <a:prstGeom prst="rect">
            <a:avLst/>
          </a:prstGeom>
        </p:spPr>
      </p:pic>
      <p:sp>
        <p:nvSpPr>
          <p:cNvPr id="15" name="Text 7"/>
          <p:cNvSpPr/>
          <p:nvPr/>
        </p:nvSpPr>
        <p:spPr>
          <a:xfrm>
            <a:off x="7620000" y="5143500"/>
            <a:ext cx="1666875" cy="590550"/>
          </a:xfrm>
          <a:prstGeom prst="rect">
            <a:avLst/>
          </a:prstGeom>
          <a:noFill/>
        </p:spPr>
        <p:txBody>
          <a:bodyPr wrap="square" rtlCol="0" anchor="ctr"/>
          <a:lstStyle/>
          <a:p>
            <a:pPr marL="0" indent="0" algn="ctr">
              <a:lnSpc>
                <a:spcPct val="130000"/>
              </a:lnSpc>
              <a:buNone/>
            </a:pPr>
            <a:r>
              <a:rPr lang="en-US" sz="1800" b="1" dirty="0">
                <a:solidFill>
                  <a:srgbClr val="FFFFFF"/>
                </a:solidFill>
                <a:latin typeface="Arial" panose="020B0604020202020204" pitchFamily="34" charset="0"/>
                <a:ea typeface="Inter" pitchFamily="34" charset="-122"/>
                <a:cs typeface="Arial" panose="020B0604020202020204" pitchFamily="34" charset="0"/>
              </a:rPr>
              <a:t>LOW</a:t>
            </a:r>
            <a:endParaRPr lang="en-US" sz="1800" dirty="0">
              <a:latin typeface="Arial" panose="020B0604020202020204" pitchFamily="34" charset="0"/>
              <a:cs typeface="Arial" panose="020B0604020202020204" pitchFamily="34" charset="0"/>
            </a:endParaRPr>
          </a:p>
          <a:p>
            <a:pPr marL="0" indent="0" algn="ctr">
              <a:lnSpc>
                <a:spcPct val="130000"/>
              </a:lnSpc>
              <a:buNone/>
            </a:pPr>
            <a:r>
              <a:rPr lang="en-US" sz="1800" b="1" dirty="0">
                <a:solidFill>
                  <a:srgbClr val="FFFFFF"/>
                </a:solidFill>
                <a:latin typeface="Arial" panose="020B0604020202020204" pitchFamily="34" charset="0"/>
                <a:ea typeface="Inter" pitchFamily="34" charset="-122"/>
                <a:cs typeface="Arial" panose="020B0604020202020204" pitchFamily="34" charset="0"/>
              </a:rPr>
              <a:t>&lt; 35%</a:t>
            </a:r>
            <a:endParaRPr lang="en-US" sz="1800" dirty="0">
              <a:latin typeface="Arial" panose="020B0604020202020204" pitchFamily="34" charset="0"/>
              <a:cs typeface="Arial" panose="020B0604020202020204" pitchFamily="34" charset="0"/>
            </a:endParaRPr>
          </a:p>
        </p:txBody>
      </p:sp>
      <p:sp>
        <p:nvSpPr>
          <p:cNvPr id="16" name="Text 8"/>
          <p:cNvSpPr/>
          <p:nvPr/>
        </p:nvSpPr>
        <p:spPr>
          <a:xfrm>
            <a:off x="1047750" y="6572250"/>
            <a:ext cx="8382000" cy="638175"/>
          </a:xfrm>
          <a:prstGeom prst="rect">
            <a:avLst/>
          </a:prstGeom>
          <a:noFill/>
        </p:spPr>
        <p:txBody>
          <a:bodyPr wrap="square" rtlCol="0" anchor="ctr"/>
          <a:lstStyle/>
          <a:p>
            <a:pPr marL="0" indent="0" algn="l">
              <a:lnSpc>
                <a:spcPct val="140000"/>
              </a:lnSpc>
              <a:buNone/>
            </a:pPr>
            <a:r>
              <a:rPr lang="en-US" sz="1800" dirty="0">
                <a:solidFill>
                  <a:srgbClr val="21272A"/>
                </a:solidFill>
                <a:latin typeface="Arial" panose="020B0604020202020204" pitchFamily="34" charset="0"/>
                <a:ea typeface="Inter" pitchFamily="34" charset="-122"/>
                <a:cs typeface="Arial" panose="020B0604020202020204" pitchFamily="34" charset="0"/>
              </a:rPr>
              <a:t>Priority score blends risk severity with grid impact factor — so the assets that matter most rise to the top of the queue.</a:t>
            </a:r>
            <a:endParaRPr lang="en-US" sz="1800" dirty="0">
              <a:latin typeface="Arial" panose="020B0604020202020204" pitchFamily="34" charset="0"/>
              <a:cs typeface="Arial" panose="020B0604020202020204" pitchFamily="34" charset="0"/>
            </a:endParaRPr>
          </a:p>
        </p:txBody>
      </p:sp>
      <p:pic>
        <p:nvPicPr>
          <p:cNvPr id="17" name="Image 6" descr="preencoded.png"/>
          <p:cNvPicPr>
            <a:picLocks noChangeAspect="1"/>
          </p:cNvPicPr>
          <p:nvPr/>
        </p:nvPicPr>
        <p:blipFill>
          <a:blip r:embed="rId8"/>
          <a:stretch>
            <a:fillRect/>
          </a:stretch>
        </p:blipFill>
        <p:spPr>
          <a:xfrm>
            <a:off x="10001250" y="1905000"/>
            <a:ext cx="5492020" cy="4864170"/>
          </a:xfrm>
          <a:prstGeom prst="rect">
            <a:avLst/>
          </a:prstGeom>
        </p:spPr>
      </p:pic>
      <p:sp>
        <p:nvSpPr>
          <p:cNvPr id="18" name="Text 9"/>
          <p:cNvSpPr/>
          <p:nvPr/>
        </p:nvSpPr>
        <p:spPr>
          <a:xfrm>
            <a:off x="10382250" y="2286000"/>
            <a:ext cx="6477000" cy="285750"/>
          </a:xfrm>
          <a:prstGeom prst="rect">
            <a:avLst/>
          </a:prstGeom>
          <a:noFill/>
        </p:spPr>
        <p:txBody>
          <a:bodyPr wrap="square" rtlCol="0" anchor="ctr"/>
          <a:lstStyle/>
          <a:p>
            <a:pPr marL="0" indent="0" algn="l">
              <a:buNone/>
            </a:pPr>
            <a:r>
              <a:rPr lang="en-US" sz="1500" b="1" dirty="0">
                <a:solidFill>
                  <a:srgbClr val="78A9FF"/>
                </a:solidFill>
                <a:latin typeface="Arial" panose="020B0604020202020204" pitchFamily="34" charset="0"/>
                <a:ea typeface="Inter" pitchFamily="34" charset="-122"/>
                <a:cs typeface="Arial" panose="020B0604020202020204" pitchFamily="34" charset="0"/>
              </a:rPr>
              <a:t>RiskRankingTable — sortable, severity badges</a:t>
            </a:r>
            <a:endParaRPr lang="en-US" sz="1500" dirty="0">
              <a:latin typeface="Arial" panose="020B0604020202020204" pitchFamily="34" charset="0"/>
              <a:cs typeface="Arial" panose="020B0604020202020204" pitchFamily="34" charset="0"/>
            </a:endParaRPr>
          </a:p>
        </p:txBody>
      </p:sp>
      <p:pic>
        <p:nvPicPr>
          <p:cNvPr id="19" name="Image 7" descr="preencoded.png"/>
          <p:cNvPicPr>
            <a:picLocks noChangeAspect="1"/>
          </p:cNvPicPr>
          <p:nvPr/>
        </p:nvPicPr>
        <p:blipFill>
          <a:blip r:embed="rId9"/>
          <a:stretch>
            <a:fillRect/>
          </a:stretch>
        </p:blipFill>
        <p:spPr>
          <a:xfrm>
            <a:off x="10382250" y="2857500"/>
            <a:ext cx="3687470" cy="571500"/>
          </a:xfrm>
          <a:prstGeom prst="rect">
            <a:avLst/>
          </a:prstGeom>
        </p:spPr>
      </p:pic>
      <p:sp>
        <p:nvSpPr>
          <p:cNvPr id="20" name="Text 10"/>
          <p:cNvSpPr/>
          <p:nvPr/>
        </p:nvSpPr>
        <p:spPr>
          <a:xfrm>
            <a:off x="10572750" y="3028950"/>
            <a:ext cx="6096000" cy="257175"/>
          </a:xfrm>
          <a:prstGeom prst="rect">
            <a:avLst/>
          </a:prstGeom>
          <a:noFill/>
        </p:spPr>
        <p:txBody>
          <a:bodyPr wrap="square" rtlCol="0" anchor="ctr"/>
          <a:lstStyle/>
          <a:p>
            <a:pPr marL="0" indent="0" algn="l">
              <a:buNone/>
            </a:pPr>
            <a:r>
              <a:rPr lang="en-US" sz="1350" b="1" dirty="0">
                <a:solidFill>
                  <a:srgbClr val="C9DDFF"/>
                </a:solidFill>
                <a:latin typeface="Arial" panose="020B0604020202020204" pitchFamily="34" charset="0"/>
                <a:ea typeface="Inter" pitchFamily="34" charset="-122"/>
                <a:cs typeface="Arial" panose="020B0604020202020204" pitchFamily="34" charset="0"/>
              </a:rPr>
              <a:t>ASSET          RISK          SEVERITY          </a:t>
            </a:r>
            <a:endParaRPr lang="en-US" sz="1350" dirty="0">
              <a:latin typeface="Arial" panose="020B0604020202020204" pitchFamily="34" charset="0"/>
              <a:cs typeface="Arial" panose="020B0604020202020204" pitchFamily="34" charset="0"/>
            </a:endParaRPr>
          </a:p>
        </p:txBody>
      </p:sp>
      <p:sp>
        <p:nvSpPr>
          <p:cNvPr id="21" name="Text 11"/>
          <p:cNvSpPr/>
          <p:nvPr/>
        </p:nvSpPr>
        <p:spPr>
          <a:xfrm>
            <a:off x="10572750" y="3762375"/>
            <a:ext cx="2857500" cy="1619250"/>
          </a:xfrm>
          <a:prstGeom prst="rect">
            <a:avLst/>
          </a:prstGeom>
          <a:noFill/>
        </p:spPr>
        <p:txBody>
          <a:bodyPr wrap="square" rtlCol="0" anchor="ctr"/>
          <a:lstStyle/>
          <a:p>
            <a:pPr marL="0" indent="0" algn="l">
              <a:lnSpc>
                <a:spcPct val="155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TX-04</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TX-11</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SUB-02</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TX-07</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SUB-05</a:t>
            </a:r>
            <a:endParaRPr lang="en-US" sz="1650" dirty="0">
              <a:latin typeface="Arial" panose="020B0604020202020204" pitchFamily="34" charset="0"/>
              <a:cs typeface="Arial" panose="020B0604020202020204" pitchFamily="34" charset="0"/>
            </a:endParaRPr>
          </a:p>
        </p:txBody>
      </p:sp>
      <p:sp>
        <p:nvSpPr>
          <p:cNvPr id="22" name="Text 12"/>
          <p:cNvSpPr/>
          <p:nvPr/>
        </p:nvSpPr>
        <p:spPr>
          <a:xfrm>
            <a:off x="11714702" y="3762565"/>
            <a:ext cx="1714500" cy="1619250"/>
          </a:xfrm>
          <a:prstGeom prst="rect">
            <a:avLst/>
          </a:prstGeom>
          <a:noFill/>
        </p:spPr>
        <p:txBody>
          <a:bodyPr wrap="square" rtlCol="0" anchor="ctr"/>
          <a:lstStyle/>
          <a:p>
            <a:pPr marL="0" indent="0" algn="l">
              <a:lnSpc>
                <a:spcPct val="155000"/>
              </a:lnSpc>
              <a:buNone/>
            </a:pPr>
            <a:r>
              <a:rPr lang="en-US" sz="1650" dirty="0">
                <a:solidFill>
                  <a:srgbClr val="C9DDFF"/>
                </a:solidFill>
                <a:latin typeface="Arial" panose="020B0604020202020204" pitchFamily="34" charset="0"/>
                <a:ea typeface="Inter" pitchFamily="34" charset="-122"/>
                <a:cs typeface="Arial" panose="020B0604020202020204" pitchFamily="34" charset="0"/>
              </a:rPr>
              <a:t>82%</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dirty="0">
                <a:solidFill>
                  <a:srgbClr val="C9DDFF"/>
                </a:solidFill>
                <a:latin typeface="Arial" panose="020B0604020202020204" pitchFamily="34" charset="0"/>
                <a:ea typeface="Inter" pitchFamily="34" charset="-122"/>
                <a:cs typeface="Arial" panose="020B0604020202020204" pitchFamily="34" charset="0"/>
              </a:rPr>
              <a:t>67%</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dirty="0">
                <a:solidFill>
                  <a:srgbClr val="C9DDFF"/>
                </a:solidFill>
                <a:latin typeface="Arial" panose="020B0604020202020204" pitchFamily="34" charset="0"/>
                <a:ea typeface="Inter" pitchFamily="34" charset="-122"/>
                <a:cs typeface="Arial" panose="020B0604020202020204" pitchFamily="34" charset="0"/>
              </a:rPr>
              <a:t>58%</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dirty="0">
                <a:solidFill>
                  <a:srgbClr val="C9DDFF"/>
                </a:solidFill>
                <a:latin typeface="Arial" panose="020B0604020202020204" pitchFamily="34" charset="0"/>
                <a:ea typeface="Inter" pitchFamily="34" charset="-122"/>
                <a:cs typeface="Arial" panose="020B0604020202020204" pitchFamily="34" charset="0"/>
              </a:rPr>
              <a:t>41%</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dirty="0">
                <a:solidFill>
                  <a:srgbClr val="C9DDFF"/>
                </a:solidFill>
                <a:latin typeface="Arial" panose="020B0604020202020204" pitchFamily="34" charset="0"/>
                <a:ea typeface="Inter" pitchFamily="34" charset="-122"/>
                <a:cs typeface="Arial" panose="020B0604020202020204" pitchFamily="34" charset="0"/>
              </a:rPr>
              <a:t>29%</a:t>
            </a:r>
            <a:endParaRPr lang="en-US" sz="1650" dirty="0">
              <a:latin typeface="Arial" panose="020B0604020202020204" pitchFamily="34" charset="0"/>
              <a:cs typeface="Arial" panose="020B0604020202020204" pitchFamily="34" charset="0"/>
            </a:endParaRPr>
          </a:p>
        </p:txBody>
      </p:sp>
      <p:sp>
        <p:nvSpPr>
          <p:cNvPr id="23" name="Text 13"/>
          <p:cNvSpPr/>
          <p:nvPr/>
        </p:nvSpPr>
        <p:spPr>
          <a:xfrm>
            <a:off x="12572619" y="3743325"/>
            <a:ext cx="2190750" cy="1619250"/>
          </a:xfrm>
          <a:prstGeom prst="rect">
            <a:avLst/>
          </a:prstGeom>
          <a:noFill/>
        </p:spPr>
        <p:txBody>
          <a:bodyPr wrap="square" rtlCol="0" anchor="ctr"/>
          <a:lstStyle/>
          <a:p>
            <a:pPr marL="0" indent="0" algn="l">
              <a:lnSpc>
                <a:spcPct val="155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 Critical</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 High</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 High</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 Medium</a:t>
            </a:r>
            <a:endParaRPr lang="en-US" sz="1650" dirty="0">
              <a:latin typeface="Arial" panose="020B0604020202020204" pitchFamily="34" charset="0"/>
              <a:cs typeface="Arial" panose="020B0604020202020204" pitchFamily="34" charset="0"/>
            </a:endParaRPr>
          </a:p>
          <a:p>
            <a:pPr marL="0" indent="0" algn="l">
              <a:lnSpc>
                <a:spcPct val="155000"/>
              </a:lnSpc>
              <a:buNone/>
            </a:pPr>
            <a:r>
              <a:rPr lang="en-US" sz="1650" b="1" dirty="0">
                <a:solidFill>
                  <a:srgbClr val="FFFFFF"/>
                </a:solidFill>
                <a:latin typeface="Arial" panose="020B0604020202020204" pitchFamily="34" charset="0"/>
                <a:ea typeface="Inter" pitchFamily="34" charset="-122"/>
                <a:cs typeface="Arial" panose="020B0604020202020204" pitchFamily="34" charset="0"/>
              </a:rPr>
              <a:t>● Low</a:t>
            </a:r>
            <a:endParaRPr lang="en-US" sz="1650" dirty="0">
              <a:latin typeface="Arial" panose="020B0604020202020204" pitchFamily="34" charset="0"/>
              <a:cs typeface="Arial" panose="020B0604020202020204" pitchFamily="34" charset="0"/>
            </a:endParaRPr>
          </a:p>
        </p:txBody>
      </p:sp>
      <p:sp>
        <p:nvSpPr>
          <p:cNvPr id="24" name="Text 14"/>
          <p:cNvSpPr/>
          <p:nvPr/>
        </p:nvSpPr>
        <p:spPr>
          <a:xfrm>
            <a:off x="1143371" y="2572579"/>
            <a:ext cx="7358605" cy="1399251"/>
          </a:xfrm>
          <a:prstGeom prst="rect">
            <a:avLst/>
          </a:prstGeom>
          <a:noFill/>
        </p:spPr>
        <p:txBody>
          <a:bodyPr wrap="square" rtlCol="0" anchor="ctr"/>
          <a:lstStyle/>
          <a:p>
            <a:pPr marL="0" indent="0" algn="ctr">
              <a:lnSpc>
                <a:spcPct val="140000"/>
              </a:lnSpc>
              <a:buNone/>
            </a:pPr>
            <a:r>
              <a:rPr lang="en-US" sz="1970" dirty="0">
                <a:solidFill>
                  <a:srgbClr val="000000"/>
                </a:solidFill>
                <a:latin typeface="Arial" panose="020B0604020202020204" pitchFamily="34" charset="0"/>
                <a:ea typeface="Open Sans" pitchFamily="34" charset="-122"/>
                <a:cs typeface="Arial" panose="020B0604020202020204" pitchFamily="34" charset="0"/>
              </a:rPr>
              <a:t>Risk = (0.25 × Temp + 0.20 × Vibration + 0.20 × PD</a:t>
            </a:r>
            <a:endParaRPr lang="en-US" sz="1970" dirty="0">
              <a:latin typeface="Arial" panose="020B0604020202020204" pitchFamily="34" charset="0"/>
              <a:cs typeface="Arial" panose="020B0604020202020204" pitchFamily="34" charset="0"/>
            </a:endParaRPr>
          </a:p>
          <a:p>
            <a:pPr marL="0" indent="0" algn="ctr">
              <a:lnSpc>
                <a:spcPct val="140000"/>
              </a:lnSpc>
              <a:buNone/>
            </a:pPr>
            <a:r>
              <a:rPr lang="en-US" sz="1970" dirty="0">
                <a:solidFill>
                  <a:srgbClr val="000000"/>
                </a:solidFill>
                <a:latin typeface="Arial" panose="020B0604020202020204" pitchFamily="34" charset="0"/>
                <a:ea typeface="Open Sans" pitchFamily="34" charset="-122"/>
                <a:cs typeface="Arial" panose="020B0604020202020204" pitchFamily="34" charset="0"/>
              </a:rPr>
              <a:t>      + 0.15 × Oil + 0.10 × Weather + 0.10 × Incidents)</a:t>
            </a:r>
            <a:endParaRPr lang="en-US" sz="1970" dirty="0">
              <a:latin typeface="Arial" panose="020B0604020202020204" pitchFamily="34" charset="0"/>
              <a:cs typeface="Arial" panose="020B0604020202020204" pitchFamily="34" charset="0"/>
            </a:endParaRPr>
          </a:p>
          <a:p>
            <a:pPr marL="0" indent="0" algn="ctr">
              <a:lnSpc>
                <a:spcPct val="140000"/>
              </a:lnSpc>
              <a:buNone/>
            </a:pPr>
            <a:r>
              <a:rPr lang="en-US" sz="1970" dirty="0">
                <a:solidFill>
                  <a:srgbClr val="000000"/>
                </a:solidFill>
                <a:latin typeface="Arial" panose="020B0604020202020204" pitchFamily="34" charset="0"/>
                <a:ea typeface="Open Sans" pitchFamily="34" charset="-122"/>
                <a:cs typeface="Arial" panose="020B0604020202020204" pitchFamily="34" charset="0"/>
              </a:rPr>
              <a:t>      × age_factor × load_factor</a:t>
            </a:r>
            <a:endParaRPr lang="en-US" sz="1970"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1047750" y="571500"/>
            <a:ext cx="95250" cy="476250"/>
          </a:xfrm>
          <a:prstGeom prst="rect">
            <a:avLst/>
          </a:prstGeom>
        </p:spPr>
      </p:pic>
      <p:sp>
        <p:nvSpPr>
          <p:cNvPr id="3" name="Text 0"/>
          <p:cNvSpPr/>
          <p:nvPr/>
        </p:nvSpPr>
        <p:spPr>
          <a:xfrm>
            <a:off x="1333500" y="428625"/>
            <a:ext cx="6667500" cy="285750"/>
          </a:xfrm>
          <a:prstGeom prst="rect">
            <a:avLst/>
          </a:prstGeom>
          <a:noFill/>
        </p:spPr>
        <p:txBody>
          <a:bodyPr wrap="square" rtlCol="0" anchor="ctr"/>
          <a:lstStyle/>
          <a:p>
            <a:pPr marL="0" indent="0" algn="l">
              <a:buNone/>
            </a:pPr>
            <a:r>
              <a:rPr lang="en-US" sz="1500" b="1" dirty="0">
                <a:solidFill>
                  <a:srgbClr val="0F62FE"/>
                </a:solidFill>
                <a:latin typeface="Arial" panose="020B0604020202020204" pitchFamily="34" charset="0"/>
                <a:ea typeface="Inter" pitchFamily="34" charset="-122"/>
                <a:cs typeface="Arial" panose="020B0604020202020204" pitchFamily="34" charset="0"/>
              </a:rPr>
              <a:t>05  /  DASHBOARD FEATURES</a:t>
            </a:r>
            <a:endParaRPr lang="en-US" sz="1500" dirty="0">
              <a:latin typeface="Arial" panose="020B0604020202020204" pitchFamily="34" charset="0"/>
              <a:cs typeface="Arial" panose="020B0604020202020204" pitchFamily="34" charset="0"/>
            </a:endParaRPr>
          </a:p>
        </p:txBody>
      </p:sp>
      <p:sp>
        <p:nvSpPr>
          <p:cNvPr id="4" name="Text 1"/>
          <p:cNvSpPr/>
          <p:nvPr/>
        </p:nvSpPr>
        <p:spPr>
          <a:xfrm>
            <a:off x="1333500" y="714375"/>
            <a:ext cx="15240000" cy="571500"/>
          </a:xfrm>
          <a:prstGeom prst="rect">
            <a:avLst/>
          </a:prstGeom>
          <a:noFill/>
        </p:spPr>
        <p:txBody>
          <a:bodyPr wrap="square" rtlCol="0" anchor="ctr"/>
          <a:lstStyle/>
          <a:p>
            <a:pPr marL="0" indent="0" algn="l">
              <a:buNone/>
            </a:pPr>
            <a:r>
              <a:rPr lang="en-US" sz="3000" b="1" dirty="0">
                <a:solidFill>
                  <a:srgbClr val="001D6C"/>
                </a:solidFill>
                <a:latin typeface="Arial" panose="020B0604020202020204" pitchFamily="34" charset="0"/>
                <a:ea typeface="Inter" pitchFamily="34" charset="-122"/>
                <a:cs typeface="Arial" panose="020B0604020202020204" pitchFamily="34" charset="0"/>
              </a:rPr>
              <a:t>A comprehensive UI that turns data into actionable insight.</a:t>
            </a:r>
            <a:endParaRPr lang="en-US" sz="3000" dirty="0">
              <a:latin typeface="Arial" panose="020B0604020202020204" pitchFamily="34" charset="0"/>
              <a:cs typeface="Arial" panose="020B0604020202020204" pitchFamily="34" charset="0"/>
            </a:endParaRPr>
          </a:p>
        </p:txBody>
      </p:sp>
      <p:pic>
        <p:nvPicPr>
          <p:cNvPr id="5" name="Image 1" descr="preencoded.png"/>
          <p:cNvPicPr>
            <a:picLocks noChangeAspect="1"/>
          </p:cNvPicPr>
          <p:nvPr/>
        </p:nvPicPr>
        <p:blipFill>
          <a:blip r:embed="rId2"/>
          <a:stretch>
            <a:fillRect/>
          </a:stretch>
        </p:blipFill>
        <p:spPr>
          <a:xfrm>
            <a:off x="1047750" y="2000250"/>
            <a:ext cx="4000500" cy="4647565"/>
          </a:xfrm>
          <a:prstGeom prst="rect">
            <a:avLst/>
          </a:prstGeom>
        </p:spPr>
      </p:pic>
      <p:pic>
        <p:nvPicPr>
          <p:cNvPr id="6" name="Image 2" descr="preencoded.png"/>
          <p:cNvPicPr>
            <a:picLocks noChangeAspect="1"/>
          </p:cNvPicPr>
          <p:nvPr/>
        </p:nvPicPr>
        <p:blipFill>
          <a:blip r:embed="rId3"/>
          <a:stretch>
            <a:fillRect/>
          </a:stretch>
        </p:blipFill>
        <p:spPr>
          <a:xfrm>
            <a:off x="1047750" y="2000250"/>
            <a:ext cx="4000500" cy="95250"/>
          </a:xfrm>
          <a:prstGeom prst="rect">
            <a:avLst/>
          </a:prstGeom>
        </p:spPr>
      </p:pic>
      <p:sp>
        <p:nvSpPr>
          <p:cNvPr id="7" name="Text 2"/>
          <p:cNvSpPr/>
          <p:nvPr/>
        </p:nvSpPr>
        <p:spPr>
          <a:xfrm>
            <a:off x="1381125" y="2381250"/>
            <a:ext cx="740410" cy="490855"/>
          </a:xfrm>
          <a:prstGeom prst="rect">
            <a:avLst/>
          </a:prstGeom>
          <a:noFill/>
        </p:spPr>
        <p:txBody>
          <a:bodyPr wrap="square" rtlCol="0" anchor="ctr"/>
          <a:lstStyle/>
          <a:p>
            <a:pPr marL="0" indent="0" algn="l">
              <a:buNone/>
            </a:pPr>
            <a:r>
              <a:rPr lang="en-US" sz="3300" b="1" dirty="0">
                <a:solidFill>
                  <a:srgbClr val="C9DDFF"/>
                </a:solidFill>
                <a:latin typeface="Arial" panose="020B0604020202020204" pitchFamily="34" charset="0"/>
                <a:ea typeface="Inter" pitchFamily="34" charset="-122"/>
                <a:cs typeface="Arial" panose="020B0604020202020204" pitchFamily="34" charset="0"/>
              </a:rPr>
              <a:t>1</a:t>
            </a:r>
            <a:endParaRPr lang="en-US" sz="3300" dirty="0">
              <a:latin typeface="Arial" panose="020B0604020202020204" pitchFamily="34" charset="0"/>
              <a:cs typeface="Arial" panose="020B0604020202020204" pitchFamily="34" charset="0"/>
            </a:endParaRPr>
          </a:p>
        </p:txBody>
      </p:sp>
      <p:sp>
        <p:nvSpPr>
          <p:cNvPr id="8" name="Text 3"/>
          <p:cNvSpPr/>
          <p:nvPr/>
        </p:nvSpPr>
        <p:spPr>
          <a:xfrm>
            <a:off x="1381125" y="3143250"/>
            <a:ext cx="3333750" cy="428625"/>
          </a:xfrm>
          <a:prstGeom prst="rect">
            <a:avLst/>
          </a:prstGeom>
          <a:noFill/>
        </p:spPr>
        <p:txBody>
          <a:bodyPr wrap="square" rtlCol="0" anchor="ctr"/>
          <a:lstStyle/>
          <a:p>
            <a:pPr marL="0" indent="0" algn="l">
              <a:buNone/>
            </a:pPr>
            <a:r>
              <a:rPr lang="en-US" sz="2250" b="1" dirty="0">
                <a:solidFill>
                  <a:srgbClr val="001D6C"/>
                </a:solidFill>
                <a:latin typeface="Arial" panose="020B0604020202020204" pitchFamily="34" charset="0"/>
                <a:ea typeface="Inter" pitchFamily="34" charset="-122"/>
                <a:cs typeface="Arial" panose="020B0604020202020204" pitchFamily="34" charset="0"/>
              </a:rPr>
              <a:t>ZoneMap</a:t>
            </a:r>
            <a:endParaRPr lang="en-US" sz="2250" dirty="0">
              <a:latin typeface="Arial" panose="020B0604020202020204" pitchFamily="34" charset="0"/>
              <a:cs typeface="Arial" panose="020B0604020202020204" pitchFamily="34" charset="0"/>
            </a:endParaRPr>
          </a:p>
        </p:txBody>
      </p:sp>
      <p:sp>
        <p:nvSpPr>
          <p:cNvPr id="9" name="Text 4"/>
          <p:cNvSpPr/>
          <p:nvPr/>
        </p:nvSpPr>
        <p:spPr>
          <a:xfrm>
            <a:off x="1381125" y="3667125"/>
            <a:ext cx="3333750" cy="876300"/>
          </a:xfrm>
          <a:prstGeom prst="rect">
            <a:avLst/>
          </a:prstGeom>
          <a:noFill/>
        </p:spPr>
        <p:txBody>
          <a:bodyPr wrap="square" rtlCol="0" anchor="ctr"/>
          <a:lstStyle/>
          <a:p>
            <a:pPr marL="0" indent="0" algn="l">
              <a:lnSpc>
                <a:spcPct val="140000"/>
              </a:lnSpc>
              <a:buNone/>
            </a:pPr>
            <a:r>
              <a:rPr lang="en-US" sz="1650" dirty="0">
                <a:solidFill>
                  <a:srgbClr val="21272A"/>
                </a:solidFill>
                <a:latin typeface="Arial" panose="020B0604020202020204" pitchFamily="34" charset="0"/>
                <a:ea typeface="Inter" pitchFamily="34" charset="-122"/>
                <a:cs typeface="Arial" panose="020B0604020202020204" pitchFamily="34" charset="0"/>
              </a:rPr>
              <a:t>SVG heatmap of 5 zones with color-coded risk levels and per-zone asset and customer counts.</a:t>
            </a:r>
            <a:endParaRPr lang="en-US" sz="1650" dirty="0">
              <a:latin typeface="Arial" panose="020B0604020202020204" pitchFamily="34" charset="0"/>
              <a:cs typeface="Arial" panose="020B0604020202020204" pitchFamily="34" charset="0"/>
            </a:endParaRPr>
          </a:p>
        </p:txBody>
      </p:sp>
      <p:pic>
        <p:nvPicPr>
          <p:cNvPr id="10" name="Image 3" descr="preencoded.png"/>
          <p:cNvPicPr>
            <a:picLocks noChangeAspect="1"/>
          </p:cNvPicPr>
          <p:nvPr/>
        </p:nvPicPr>
        <p:blipFill>
          <a:blip r:embed="rId2"/>
          <a:stretch>
            <a:fillRect/>
          </a:stretch>
        </p:blipFill>
        <p:spPr>
          <a:xfrm>
            <a:off x="5334000" y="2000250"/>
            <a:ext cx="4000500" cy="4658995"/>
          </a:xfrm>
          <a:prstGeom prst="rect">
            <a:avLst/>
          </a:prstGeom>
        </p:spPr>
      </p:pic>
      <p:pic>
        <p:nvPicPr>
          <p:cNvPr id="11" name="Image 4" descr="preencoded.png"/>
          <p:cNvPicPr>
            <a:picLocks noChangeAspect="1"/>
          </p:cNvPicPr>
          <p:nvPr/>
        </p:nvPicPr>
        <p:blipFill>
          <a:blip r:embed="rId3"/>
          <a:stretch>
            <a:fillRect/>
          </a:stretch>
        </p:blipFill>
        <p:spPr>
          <a:xfrm>
            <a:off x="5334000" y="2000250"/>
            <a:ext cx="4000500" cy="95250"/>
          </a:xfrm>
          <a:prstGeom prst="rect">
            <a:avLst/>
          </a:prstGeom>
        </p:spPr>
      </p:pic>
      <p:sp>
        <p:nvSpPr>
          <p:cNvPr id="12" name="Text 5"/>
          <p:cNvSpPr/>
          <p:nvPr/>
        </p:nvSpPr>
        <p:spPr>
          <a:xfrm>
            <a:off x="5667375" y="2381250"/>
            <a:ext cx="571500" cy="628650"/>
          </a:xfrm>
          <a:prstGeom prst="rect">
            <a:avLst/>
          </a:prstGeom>
          <a:noFill/>
        </p:spPr>
        <p:txBody>
          <a:bodyPr wrap="square" rtlCol="0" anchor="ctr"/>
          <a:lstStyle/>
          <a:p>
            <a:pPr marL="0" indent="0" algn="l">
              <a:buNone/>
            </a:pPr>
            <a:r>
              <a:rPr lang="en-US" sz="3300" b="1" dirty="0">
                <a:solidFill>
                  <a:srgbClr val="C9DDFF"/>
                </a:solidFill>
                <a:latin typeface="Arial" panose="020B0604020202020204" pitchFamily="34" charset="0"/>
                <a:ea typeface="Inter" pitchFamily="34" charset="-122"/>
                <a:cs typeface="Arial" panose="020B0604020202020204" pitchFamily="34" charset="0"/>
              </a:rPr>
              <a:t>2</a:t>
            </a:r>
            <a:endParaRPr lang="en-US" sz="3300" dirty="0">
              <a:latin typeface="Arial" panose="020B0604020202020204" pitchFamily="34" charset="0"/>
              <a:cs typeface="Arial" panose="020B0604020202020204" pitchFamily="34" charset="0"/>
            </a:endParaRPr>
          </a:p>
        </p:txBody>
      </p:sp>
      <p:sp>
        <p:nvSpPr>
          <p:cNvPr id="13" name="Text 6"/>
          <p:cNvSpPr/>
          <p:nvPr/>
        </p:nvSpPr>
        <p:spPr>
          <a:xfrm>
            <a:off x="5667375" y="3143250"/>
            <a:ext cx="3333750" cy="428625"/>
          </a:xfrm>
          <a:prstGeom prst="rect">
            <a:avLst/>
          </a:prstGeom>
          <a:noFill/>
        </p:spPr>
        <p:txBody>
          <a:bodyPr wrap="square" rtlCol="0" anchor="ctr"/>
          <a:lstStyle/>
          <a:p>
            <a:pPr marL="0" indent="0" algn="l">
              <a:buNone/>
            </a:pPr>
            <a:r>
              <a:rPr lang="en-US" sz="2250" b="1" dirty="0">
                <a:solidFill>
                  <a:srgbClr val="001D6C"/>
                </a:solidFill>
                <a:latin typeface="Arial" panose="020B0604020202020204" pitchFamily="34" charset="0"/>
                <a:ea typeface="Inter" pitchFamily="34" charset="-122"/>
                <a:cs typeface="Arial" panose="020B0604020202020204" pitchFamily="34" charset="0"/>
              </a:rPr>
              <a:t>SensorSparklines</a:t>
            </a:r>
            <a:endParaRPr lang="en-US" sz="2250" dirty="0">
              <a:latin typeface="Arial" panose="020B0604020202020204" pitchFamily="34" charset="0"/>
              <a:cs typeface="Arial" panose="020B0604020202020204" pitchFamily="34" charset="0"/>
            </a:endParaRPr>
          </a:p>
        </p:txBody>
      </p:sp>
      <p:sp>
        <p:nvSpPr>
          <p:cNvPr id="14" name="Text 7"/>
          <p:cNvSpPr/>
          <p:nvPr/>
        </p:nvSpPr>
        <p:spPr>
          <a:xfrm>
            <a:off x="5667375" y="3667125"/>
            <a:ext cx="3333750" cy="876300"/>
          </a:xfrm>
          <a:prstGeom prst="rect">
            <a:avLst/>
          </a:prstGeom>
          <a:noFill/>
        </p:spPr>
        <p:txBody>
          <a:bodyPr wrap="square" rtlCol="0" anchor="ctr"/>
          <a:lstStyle/>
          <a:p>
            <a:pPr marL="0" indent="0" algn="l">
              <a:lnSpc>
                <a:spcPct val="140000"/>
              </a:lnSpc>
              <a:buNone/>
            </a:pPr>
            <a:r>
              <a:rPr lang="en-US" sz="1650" dirty="0">
                <a:solidFill>
                  <a:srgbClr val="21272A"/>
                </a:solidFill>
                <a:latin typeface="Arial" panose="020B0604020202020204" pitchFamily="34" charset="0"/>
                <a:ea typeface="Inter" pitchFamily="34" charset="-122"/>
                <a:cs typeface="Arial" panose="020B0604020202020204" pitchFamily="34" charset="0"/>
              </a:rPr>
              <a:t>7-day trends of temperature, vibration, partial discharge and oil quality with alarm highlights.</a:t>
            </a:r>
            <a:endParaRPr lang="en-US" sz="1650" dirty="0">
              <a:latin typeface="Arial" panose="020B0604020202020204" pitchFamily="34" charset="0"/>
              <a:cs typeface="Arial" panose="020B0604020202020204" pitchFamily="34" charset="0"/>
            </a:endParaRPr>
          </a:p>
        </p:txBody>
      </p:sp>
      <p:pic>
        <p:nvPicPr>
          <p:cNvPr id="15" name="Image 5" descr="preencoded.png"/>
          <p:cNvPicPr>
            <a:picLocks noChangeAspect="1"/>
          </p:cNvPicPr>
          <p:nvPr/>
        </p:nvPicPr>
        <p:blipFill>
          <a:blip r:embed="rId2"/>
          <a:stretch>
            <a:fillRect/>
          </a:stretch>
        </p:blipFill>
        <p:spPr>
          <a:xfrm>
            <a:off x="9620250" y="2000250"/>
            <a:ext cx="4000500" cy="4671060"/>
          </a:xfrm>
          <a:prstGeom prst="rect">
            <a:avLst/>
          </a:prstGeom>
        </p:spPr>
      </p:pic>
      <p:pic>
        <p:nvPicPr>
          <p:cNvPr id="16" name="Image 6" descr="preencoded.png"/>
          <p:cNvPicPr>
            <a:picLocks noChangeAspect="1"/>
          </p:cNvPicPr>
          <p:nvPr/>
        </p:nvPicPr>
        <p:blipFill>
          <a:blip r:embed="rId3"/>
          <a:stretch>
            <a:fillRect/>
          </a:stretch>
        </p:blipFill>
        <p:spPr>
          <a:xfrm>
            <a:off x="9620250" y="2000250"/>
            <a:ext cx="4000500" cy="95250"/>
          </a:xfrm>
          <a:prstGeom prst="rect">
            <a:avLst/>
          </a:prstGeom>
        </p:spPr>
      </p:pic>
      <p:sp>
        <p:nvSpPr>
          <p:cNvPr id="17" name="Text 8"/>
          <p:cNvSpPr/>
          <p:nvPr/>
        </p:nvSpPr>
        <p:spPr>
          <a:xfrm>
            <a:off x="9953625" y="2381250"/>
            <a:ext cx="571500" cy="628650"/>
          </a:xfrm>
          <a:prstGeom prst="rect">
            <a:avLst/>
          </a:prstGeom>
          <a:noFill/>
        </p:spPr>
        <p:txBody>
          <a:bodyPr wrap="square" rtlCol="0" anchor="ctr"/>
          <a:lstStyle/>
          <a:p>
            <a:pPr marL="0" indent="0" algn="l">
              <a:buNone/>
            </a:pPr>
            <a:r>
              <a:rPr lang="en-US" sz="3300" b="1" dirty="0">
                <a:solidFill>
                  <a:srgbClr val="C9DDFF"/>
                </a:solidFill>
                <a:latin typeface="Arial" panose="020B0604020202020204" pitchFamily="34" charset="0"/>
                <a:ea typeface="Inter" pitchFamily="34" charset="-122"/>
                <a:cs typeface="Arial" panose="020B0604020202020204" pitchFamily="34" charset="0"/>
              </a:rPr>
              <a:t>3</a:t>
            </a:r>
            <a:endParaRPr lang="en-US" sz="3300" dirty="0">
              <a:latin typeface="Arial" panose="020B0604020202020204" pitchFamily="34" charset="0"/>
              <a:cs typeface="Arial" panose="020B0604020202020204" pitchFamily="34" charset="0"/>
            </a:endParaRPr>
          </a:p>
        </p:txBody>
      </p:sp>
      <p:sp>
        <p:nvSpPr>
          <p:cNvPr id="18" name="Text 9"/>
          <p:cNvSpPr/>
          <p:nvPr/>
        </p:nvSpPr>
        <p:spPr>
          <a:xfrm>
            <a:off x="9953625" y="3143250"/>
            <a:ext cx="3333750" cy="428625"/>
          </a:xfrm>
          <a:prstGeom prst="rect">
            <a:avLst/>
          </a:prstGeom>
          <a:noFill/>
        </p:spPr>
        <p:txBody>
          <a:bodyPr wrap="square" rtlCol="0" anchor="ctr"/>
          <a:lstStyle/>
          <a:p>
            <a:pPr marL="0" indent="0" algn="l">
              <a:buNone/>
            </a:pPr>
            <a:r>
              <a:rPr lang="en-US" sz="2250" b="1" dirty="0">
                <a:solidFill>
                  <a:srgbClr val="001D6C"/>
                </a:solidFill>
                <a:latin typeface="Arial" panose="020B0604020202020204" pitchFamily="34" charset="0"/>
                <a:ea typeface="Inter" pitchFamily="34" charset="-122"/>
                <a:cs typeface="Arial" panose="020B0604020202020204" pitchFamily="34" charset="0"/>
              </a:rPr>
              <a:t>MaintenancePlan</a:t>
            </a:r>
            <a:endParaRPr lang="en-US" sz="2250" dirty="0">
              <a:latin typeface="Arial" panose="020B0604020202020204" pitchFamily="34" charset="0"/>
              <a:cs typeface="Arial" panose="020B0604020202020204" pitchFamily="34" charset="0"/>
            </a:endParaRPr>
          </a:p>
        </p:txBody>
      </p:sp>
      <p:sp>
        <p:nvSpPr>
          <p:cNvPr id="19" name="Text 10"/>
          <p:cNvSpPr/>
          <p:nvPr/>
        </p:nvSpPr>
        <p:spPr>
          <a:xfrm>
            <a:off x="9953625" y="3667125"/>
            <a:ext cx="3333750" cy="876300"/>
          </a:xfrm>
          <a:prstGeom prst="rect">
            <a:avLst/>
          </a:prstGeom>
          <a:noFill/>
        </p:spPr>
        <p:txBody>
          <a:bodyPr wrap="square" rtlCol="0" anchor="ctr"/>
          <a:lstStyle/>
          <a:p>
            <a:pPr marL="0" indent="0" algn="l">
              <a:lnSpc>
                <a:spcPct val="140000"/>
              </a:lnSpc>
              <a:buNone/>
            </a:pPr>
            <a:r>
              <a:rPr lang="en-US" sz="1650" dirty="0">
                <a:solidFill>
                  <a:srgbClr val="21272A"/>
                </a:solidFill>
                <a:latin typeface="Arial" panose="020B0604020202020204" pitchFamily="34" charset="0"/>
                <a:ea typeface="Inter" pitchFamily="34" charset="-122"/>
                <a:cs typeface="Arial" panose="020B0604020202020204" pitchFamily="34" charset="0"/>
              </a:rPr>
              <a:t>Ordered cards of prioritized maintenance tasks, each with a clear deadline.</a:t>
            </a:r>
            <a:endParaRPr lang="en-US" sz="1650" dirty="0">
              <a:latin typeface="Arial" panose="020B0604020202020204" pitchFamily="34" charset="0"/>
              <a:cs typeface="Arial" panose="020B0604020202020204" pitchFamily="34" charset="0"/>
            </a:endParaRPr>
          </a:p>
        </p:txBody>
      </p:sp>
      <p:pic>
        <p:nvPicPr>
          <p:cNvPr id="20" name="Image 7" descr="preencoded.png"/>
          <p:cNvPicPr>
            <a:picLocks noChangeAspect="1"/>
          </p:cNvPicPr>
          <p:nvPr/>
        </p:nvPicPr>
        <p:blipFill>
          <a:blip r:embed="rId2"/>
          <a:stretch>
            <a:fillRect/>
          </a:stretch>
        </p:blipFill>
        <p:spPr>
          <a:xfrm>
            <a:off x="13906500" y="2000250"/>
            <a:ext cx="4000500" cy="4683125"/>
          </a:xfrm>
          <a:prstGeom prst="rect">
            <a:avLst/>
          </a:prstGeom>
        </p:spPr>
      </p:pic>
      <p:pic>
        <p:nvPicPr>
          <p:cNvPr id="21" name="Image 8" descr="preencoded.png"/>
          <p:cNvPicPr>
            <a:picLocks noChangeAspect="1"/>
          </p:cNvPicPr>
          <p:nvPr/>
        </p:nvPicPr>
        <p:blipFill>
          <a:blip r:embed="rId3"/>
          <a:stretch>
            <a:fillRect/>
          </a:stretch>
        </p:blipFill>
        <p:spPr>
          <a:xfrm>
            <a:off x="13906500" y="2000250"/>
            <a:ext cx="4000500" cy="95250"/>
          </a:xfrm>
          <a:prstGeom prst="rect">
            <a:avLst/>
          </a:prstGeom>
        </p:spPr>
      </p:pic>
      <p:sp>
        <p:nvSpPr>
          <p:cNvPr id="22" name="Text 11"/>
          <p:cNvSpPr/>
          <p:nvPr/>
        </p:nvSpPr>
        <p:spPr>
          <a:xfrm>
            <a:off x="14239875" y="2381250"/>
            <a:ext cx="740559" cy="628650"/>
          </a:xfrm>
          <a:prstGeom prst="rect">
            <a:avLst/>
          </a:prstGeom>
          <a:noFill/>
        </p:spPr>
        <p:txBody>
          <a:bodyPr wrap="square" rtlCol="0" anchor="ctr"/>
          <a:lstStyle/>
          <a:p>
            <a:pPr marL="0" indent="0" algn="l">
              <a:buNone/>
            </a:pPr>
            <a:r>
              <a:rPr lang="en-US" sz="3300" b="1" dirty="0">
                <a:solidFill>
                  <a:srgbClr val="C9DDFF"/>
                </a:solidFill>
                <a:latin typeface="Arial" panose="020B0604020202020204" pitchFamily="34" charset="0"/>
                <a:ea typeface="Inter" pitchFamily="34" charset="-122"/>
                <a:cs typeface="Arial" panose="020B0604020202020204" pitchFamily="34" charset="0"/>
              </a:rPr>
              <a:t>4</a:t>
            </a:r>
            <a:endParaRPr lang="en-US" sz="3300" dirty="0">
              <a:latin typeface="Arial" panose="020B0604020202020204" pitchFamily="34" charset="0"/>
              <a:cs typeface="Arial" panose="020B0604020202020204" pitchFamily="34" charset="0"/>
            </a:endParaRPr>
          </a:p>
        </p:txBody>
      </p:sp>
      <p:sp>
        <p:nvSpPr>
          <p:cNvPr id="23" name="Text 12"/>
          <p:cNvSpPr/>
          <p:nvPr/>
        </p:nvSpPr>
        <p:spPr>
          <a:xfrm>
            <a:off x="14239875" y="3143250"/>
            <a:ext cx="3333750" cy="428625"/>
          </a:xfrm>
          <a:prstGeom prst="rect">
            <a:avLst/>
          </a:prstGeom>
          <a:noFill/>
        </p:spPr>
        <p:txBody>
          <a:bodyPr wrap="square" rtlCol="0" anchor="ctr"/>
          <a:lstStyle/>
          <a:p>
            <a:pPr marL="0" indent="0" algn="l">
              <a:buNone/>
            </a:pPr>
            <a:r>
              <a:rPr lang="en-US" sz="2250" b="1" dirty="0">
                <a:solidFill>
                  <a:srgbClr val="001D6C"/>
                </a:solidFill>
                <a:latin typeface="Arial" panose="020B0604020202020204" pitchFamily="34" charset="0"/>
                <a:ea typeface="Inter" pitchFamily="34" charset="-122"/>
                <a:cs typeface="Arial" panose="020B0604020202020204" pitchFamily="34" charset="0"/>
              </a:rPr>
              <a:t>CrewPanel</a:t>
            </a:r>
            <a:endParaRPr lang="en-US" sz="2250" dirty="0">
              <a:latin typeface="Arial" panose="020B0604020202020204" pitchFamily="34" charset="0"/>
              <a:cs typeface="Arial" panose="020B0604020202020204" pitchFamily="34" charset="0"/>
            </a:endParaRPr>
          </a:p>
        </p:txBody>
      </p:sp>
      <p:sp>
        <p:nvSpPr>
          <p:cNvPr id="24" name="Text 13"/>
          <p:cNvSpPr/>
          <p:nvPr/>
        </p:nvSpPr>
        <p:spPr>
          <a:xfrm>
            <a:off x="14239875" y="3667125"/>
            <a:ext cx="3333750" cy="876300"/>
          </a:xfrm>
          <a:prstGeom prst="rect">
            <a:avLst/>
          </a:prstGeom>
          <a:noFill/>
        </p:spPr>
        <p:txBody>
          <a:bodyPr wrap="square" rtlCol="0" anchor="ctr"/>
          <a:lstStyle/>
          <a:p>
            <a:pPr marL="0" indent="0" algn="l">
              <a:lnSpc>
                <a:spcPct val="140000"/>
              </a:lnSpc>
              <a:buNone/>
            </a:pPr>
            <a:r>
              <a:rPr lang="en-US" sz="1650" dirty="0">
                <a:solidFill>
                  <a:srgbClr val="21272A"/>
                </a:solidFill>
                <a:latin typeface="Arial" panose="020B0604020202020204" pitchFamily="34" charset="0"/>
                <a:ea typeface="Inter" pitchFamily="34" charset="-122"/>
                <a:cs typeface="Arial" panose="020B0604020202020204" pitchFamily="34" charset="0"/>
              </a:rPr>
              <a:t>Crew assignment statuses with travel times and live ETAs for each dispatch.</a:t>
            </a:r>
            <a:endParaRPr lang="en-US" sz="1650" dirty="0">
              <a:latin typeface="Arial" panose="020B0604020202020204" pitchFamily="34" charset="0"/>
              <a:cs typeface="Arial" panose="020B0604020202020204" pitchFamily="34" charset="0"/>
            </a:endParaRPr>
          </a:p>
        </p:txBody>
      </p:sp>
      <p:pic>
        <p:nvPicPr>
          <p:cNvPr id="25" name="Image 9" descr="preencoded.png"/>
          <p:cNvPicPr>
            <a:picLocks noChangeAspect="1"/>
          </p:cNvPicPr>
          <p:nvPr/>
        </p:nvPicPr>
        <p:blipFill>
          <a:blip r:embed="rId4"/>
          <a:stretch>
            <a:fillRect/>
          </a:stretch>
        </p:blipFill>
        <p:spPr>
          <a:xfrm>
            <a:off x="1238250" y="5115560"/>
            <a:ext cx="3619500" cy="1095375"/>
          </a:xfrm>
          <a:prstGeom prst="rect">
            <a:avLst/>
          </a:prstGeom>
        </p:spPr>
      </p:pic>
      <p:pic>
        <p:nvPicPr>
          <p:cNvPr id="26" name="Image 10" descr="preencoded.png"/>
          <p:cNvPicPr>
            <a:picLocks noChangeAspect="1"/>
          </p:cNvPicPr>
          <p:nvPr/>
        </p:nvPicPr>
        <p:blipFill>
          <a:blip r:embed="rId5"/>
          <a:stretch>
            <a:fillRect/>
          </a:stretch>
        </p:blipFill>
        <p:spPr>
          <a:xfrm>
            <a:off x="5524500" y="5115560"/>
            <a:ext cx="3619500" cy="1095375"/>
          </a:xfrm>
          <a:prstGeom prst="rect">
            <a:avLst/>
          </a:prstGeom>
        </p:spPr>
      </p:pic>
      <p:pic>
        <p:nvPicPr>
          <p:cNvPr id="27" name="Image 11" descr="preencoded.png"/>
          <p:cNvPicPr>
            <a:picLocks noChangeAspect="1"/>
          </p:cNvPicPr>
          <p:nvPr/>
        </p:nvPicPr>
        <p:blipFill>
          <a:blip r:embed="rId6"/>
          <a:stretch>
            <a:fillRect/>
          </a:stretch>
        </p:blipFill>
        <p:spPr>
          <a:xfrm>
            <a:off x="9810750" y="5115560"/>
            <a:ext cx="3619500" cy="1095375"/>
          </a:xfrm>
          <a:prstGeom prst="rect">
            <a:avLst/>
          </a:prstGeom>
        </p:spPr>
      </p:pic>
      <p:pic>
        <p:nvPicPr>
          <p:cNvPr id="28" name="Image 12" descr="preencoded.png"/>
          <p:cNvPicPr>
            <a:picLocks noChangeAspect="1"/>
          </p:cNvPicPr>
          <p:nvPr/>
        </p:nvPicPr>
        <p:blipFill>
          <a:blip r:embed="rId7"/>
          <a:stretch>
            <a:fillRect/>
          </a:stretch>
        </p:blipFill>
        <p:spPr>
          <a:xfrm>
            <a:off x="14097000" y="5115560"/>
            <a:ext cx="3619500" cy="10953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1047750" y="571500"/>
            <a:ext cx="95250" cy="476250"/>
          </a:xfrm>
          <a:prstGeom prst="rect">
            <a:avLst/>
          </a:prstGeom>
        </p:spPr>
      </p:pic>
      <p:sp>
        <p:nvSpPr>
          <p:cNvPr id="3" name="Text 0"/>
          <p:cNvSpPr/>
          <p:nvPr/>
        </p:nvSpPr>
        <p:spPr>
          <a:xfrm>
            <a:off x="1333500" y="428625"/>
            <a:ext cx="6667500" cy="285750"/>
          </a:xfrm>
          <a:prstGeom prst="rect">
            <a:avLst/>
          </a:prstGeom>
          <a:noFill/>
        </p:spPr>
        <p:txBody>
          <a:bodyPr wrap="square" rtlCol="0" anchor="ctr"/>
          <a:lstStyle/>
          <a:p>
            <a:pPr marL="0" indent="0" algn="l">
              <a:buNone/>
            </a:pPr>
            <a:r>
              <a:rPr lang="en-US" sz="1500" b="1" dirty="0">
                <a:solidFill>
                  <a:srgbClr val="0F62FE"/>
                </a:solidFill>
                <a:latin typeface="Arial" panose="020B0604020202020204" pitchFamily="34" charset="0"/>
                <a:ea typeface="Inter" pitchFamily="34" charset="-122"/>
                <a:cs typeface="Arial" panose="020B0604020202020204" pitchFamily="34" charset="0"/>
              </a:rPr>
              <a:t>06  /  IBM TECHNOLOGIES</a:t>
            </a:r>
            <a:endParaRPr lang="en-US" sz="1500" dirty="0">
              <a:latin typeface="Arial" panose="020B0604020202020204" pitchFamily="34" charset="0"/>
              <a:cs typeface="Arial" panose="020B0604020202020204" pitchFamily="34" charset="0"/>
            </a:endParaRPr>
          </a:p>
        </p:txBody>
      </p:sp>
      <p:sp>
        <p:nvSpPr>
          <p:cNvPr id="4" name="Text 1"/>
          <p:cNvSpPr/>
          <p:nvPr/>
        </p:nvSpPr>
        <p:spPr>
          <a:xfrm>
            <a:off x="1333500" y="714375"/>
            <a:ext cx="15716250" cy="571500"/>
          </a:xfrm>
          <a:prstGeom prst="rect">
            <a:avLst/>
          </a:prstGeom>
          <a:noFill/>
        </p:spPr>
        <p:txBody>
          <a:bodyPr wrap="square" rtlCol="0" anchor="ctr"/>
          <a:lstStyle/>
          <a:p>
            <a:pPr marL="0" indent="0" algn="l">
              <a:buNone/>
            </a:pPr>
            <a:r>
              <a:rPr lang="en-US" sz="3000" b="1" dirty="0">
                <a:solidFill>
                  <a:srgbClr val="001D6C"/>
                </a:solidFill>
                <a:latin typeface="Arial" panose="020B0604020202020204" pitchFamily="34" charset="0"/>
                <a:ea typeface="Inter" pitchFamily="34" charset="-122"/>
                <a:cs typeface="Arial" panose="020B0604020202020204" pitchFamily="34" charset="0"/>
              </a:rPr>
              <a:t>IBM Bob + watsonx.ai Granite power AI briefings and explanations.</a:t>
            </a:r>
            <a:endParaRPr lang="en-US" sz="3000" dirty="0">
              <a:latin typeface="Arial" panose="020B0604020202020204" pitchFamily="34" charset="0"/>
              <a:cs typeface="Arial" panose="020B0604020202020204" pitchFamily="34" charset="0"/>
            </a:endParaRPr>
          </a:p>
        </p:txBody>
      </p:sp>
      <p:pic>
        <p:nvPicPr>
          <p:cNvPr id="5" name="Image 1" descr="preencoded.png"/>
          <p:cNvPicPr>
            <a:picLocks noChangeAspect="1"/>
          </p:cNvPicPr>
          <p:nvPr/>
        </p:nvPicPr>
        <p:blipFill>
          <a:blip r:embed="rId2"/>
          <a:stretch>
            <a:fillRect/>
          </a:stretch>
        </p:blipFill>
        <p:spPr>
          <a:xfrm>
            <a:off x="1047750" y="2000250"/>
            <a:ext cx="5334000" cy="2000250"/>
          </a:xfrm>
          <a:prstGeom prst="rect">
            <a:avLst/>
          </a:prstGeom>
        </p:spPr>
      </p:pic>
      <p:sp>
        <p:nvSpPr>
          <p:cNvPr id="6" name="Text 2"/>
          <p:cNvSpPr/>
          <p:nvPr/>
        </p:nvSpPr>
        <p:spPr>
          <a:xfrm>
            <a:off x="1381125" y="2238375"/>
            <a:ext cx="381000" cy="485775"/>
          </a:xfrm>
          <a:prstGeom prst="rect">
            <a:avLst/>
          </a:prstGeom>
          <a:noFill/>
        </p:spPr>
        <p:txBody>
          <a:bodyPr wrap="square" rtlCol="0" anchor="ctr"/>
          <a:lstStyle/>
          <a:p>
            <a:pPr marL="0" indent="0" algn="l">
              <a:buNone/>
            </a:pPr>
            <a:r>
              <a:rPr lang="en-US" sz="2550" b="1" dirty="0">
                <a:solidFill>
                  <a:srgbClr val="0F62FE"/>
                </a:solidFill>
                <a:latin typeface="Arial" panose="020B0604020202020204" pitchFamily="34" charset="0"/>
                <a:ea typeface="Inter" pitchFamily="34" charset="-122"/>
                <a:cs typeface="Arial" panose="020B0604020202020204" pitchFamily="34" charset="0"/>
              </a:rPr>
              <a:t>1</a:t>
            </a:r>
            <a:endParaRPr lang="en-US" sz="2550" dirty="0">
              <a:latin typeface="Arial" panose="020B0604020202020204" pitchFamily="34" charset="0"/>
              <a:cs typeface="Arial" panose="020B0604020202020204" pitchFamily="34" charset="0"/>
            </a:endParaRPr>
          </a:p>
        </p:txBody>
      </p:sp>
      <p:sp>
        <p:nvSpPr>
          <p:cNvPr id="7" name="Text 3"/>
          <p:cNvSpPr/>
          <p:nvPr/>
        </p:nvSpPr>
        <p:spPr>
          <a:xfrm>
            <a:off x="1905000" y="2286000"/>
            <a:ext cx="4191000" cy="381000"/>
          </a:xfrm>
          <a:prstGeom prst="rect">
            <a:avLst/>
          </a:prstGeom>
          <a:noFill/>
        </p:spPr>
        <p:txBody>
          <a:bodyPr wrap="square" rtlCol="0" anchor="ctr"/>
          <a:lstStyle/>
          <a:p>
            <a:pPr marL="0" indent="0" algn="l">
              <a:buNone/>
            </a:pPr>
            <a:r>
              <a:rPr lang="en-US" sz="1950" b="1" dirty="0">
                <a:solidFill>
                  <a:srgbClr val="001D6C"/>
                </a:solidFill>
                <a:latin typeface="Arial" panose="020B0604020202020204" pitchFamily="34" charset="0"/>
                <a:ea typeface="Inter" pitchFamily="34" charset="-122"/>
                <a:cs typeface="Arial" panose="020B0604020202020204" pitchFamily="34" charset="0"/>
              </a:rPr>
              <a:t>IBM Bob In-IDE Skill</a:t>
            </a:r>
            <a:endParaRPr lang="en-US" sz="1950" dirty="0">
              <a:latin typeface="Arial" panose="020B0604020202020204" pitchFamily="34" charset="0"/>
              <a:cs typeface="Arial" panose="020B0604020202020204" pitchFamily="34" charset="0"/>
            </a:endParaRPr>
          </a:p>
        </p:txBody>
      </p:sp>
      <p:sp>
        <p:nvSpPr>
          <p:cNvPr id="8" name="Text 4"/>
          <p:cNvSpPr/>
          <p:nvPr/>
        </p:nvSpPr>
        <p:spPr>
          <a:xfrm>
            <a:off x="1905000" y="2762250"/>
            <a:ext cx="4191000" cy="809625"/>
          </a:xfrm>
          <a:prstGeom prst="rect">
            <a:avLst/>
          </a:prstGeom>
          <a:noFill/>
        </p:spPr>
        <p:txBody>
          <a:bodyPr wrap="square" rtlCol="0" anchor="ctr"/>
          <a:lstStyle/>
          <a:p>
            <a:pPr marL="0" indent="0" algn="l">
              <a:lnSpc>
                <a:spcPct val="135000"/>
              </a:lnSpc>
              <a:buNone/>
            </a:pPr>
            <a:r>
              <a:rPr lang="en-US" sz="1575" dirty="0">
                <a:solidFill>
                  <a:srgbClr val="21272A"/>
                </a:solidFill>
                <a:latin typeface="Arial" panose="020B0604020202020204" pitchFamily="34" charset="0"/>
                <a:ea typeface="Inter" pitchFamily="34" charset="-122"/>
                <a:cs typeface="Arial" panose="020B0604020202020204" pitchFamily="34" charset="0"/>
              </a:rPr>
              <a:t>.bob/skills/grid-advisor.md enables interactive, in-editor queries against the live advisor.</a:t>
            </a:r>
            <a:endParaRPr lang="en-US" sz="1575" dirty="0">
              <a:latin typeface="Arial" panose="020B0604020202020204" pitchFamily="34" charset="0"/>
              <a:cs typeface="Arial" panose="020B0604020202020204" pitchFamily="34" charset="0"/>
            </a:endParaRPr>
          </a:p>
        </p:txBody>
      </p:sp>
      <p:pic>
        <p:nvPicPr>
          <p:cNvPr id="9" name="Image 2" descr="preencoded.png"/>
          <p:cNvPicPr>
            <a:picLocks noChangeAspect="1"/>
          </p:cNvPicPr>
          <p:nvPr/>
        </p:nvPicPr>
        <p:blipFill>
          <a:blip r:embed="rId2"/>
          <a:stretch>
            <a:fillRect/>
          </a:stretch>
        </p:blipFill>
        <p:spPr>
          <a:xfrm>
            <a:off x="1047750" y="4238625"/>
            <a:ext cx="5334000" cy="2000250"/>
          </a:xfrm>
          <a:prstGeom prst="rect">
            <a:avLst/>
          </a:prstGeom>
        </p:spPr>
      </p:pic>
      <p:sp>
        <p:nvSpPr>
          <p:cNvPr id="10" name="Text 5"/>
          <p:cNvSpPr/>
          <p:nvPr/>
        </p:nvSpPr>
        <p:spPr>
          <a:xfrm>
            <a:off x="1381125" y="4476750"/>
            <a:ext cx="381000" cy="485775"/>
          </a:xfrm>
          <a:prstGeom prst="rect">
            <a:avLst/>
          </a:prstGeom>
          <a:noFill/>
        </p:spPr>
        <p:txBody>
          <a:bodyPr wrap="square" rtlCol="0" anchor="ctr"/>
          <a:lstStyle/>
          <a:p>
            <a:pPr marL="0" indent="0" algn="l">
              <a:buNone/>
            </a:pPr>
            <a:r>
              <a:rPr lang="en-US" sz="2550" b="1" dirty="0">
                <a:solidFill>
                  <a:srgbClr val="0F62FE"/>
                </a:solidFill>
                <a:latin typeface="Arial" panose="020B0604020202020204" pitchFamily="34" charset="0"/>
                <a:ea typeface="Inter" pitchFamily="34" charset="-122"/>
                <a:cs typeface="Arial" panose="020B0604020202020204" pitchFamily="34" charset="0"/>
              </a:rPr>
              <a:t>2</a:t>
            </a:r>
            <a:endParaRPr lang="en-US" sz="2550" dirty="0">
              <a:latin typeface="Arial" panose="020B0604020202020204" pitchFamily="34" charset="0"/>
              <a:cs typeface="Arial" panose="020B0604020202020204" pitchFamily="34" charset="0"/>
            </a:endParaRPr>
          </a:p>
        </p:txBody>
      </p:sp>
      <p:sp>
        <p:nvSpPr>
          <p:cNvPr id="11" name="Text 6"/>
          <p:cNvSpPr/>
          <p:nvPr/>
        </p:nvSpPr>
        <p:spPr>
          <a:xfrm>
            <a:off x="1905000" y="4524375"/>
            <a:ext cx="4191000" cy="381000"/>
          </a:xfrm>
          <a:prstGeom prst="rect">
            <a:avLst/>
          </a:prstGeom>
          <a:noFill/>
        </p:spPr>
        <p:txBody>
          <a:bodyPr wrap="square" rtlCol="0" anchor="ctr"/>
          <a:lstStyle/>
          <a:p>
            <a:pPr marL="0" indent="0" algn="l">
              <a:buNone/>
            </a:pPr>
            <a:r>
              <a:rPr lang="en-US" sz="1950" b="1" dirty="0">
                <a:solidFill>
                  <a:srgbClr val="001D6C"/>
                </a:solidFill>
                <a:latin typeface="Arial" panose="020B0604020202020204" pitchFamily="34" charset="0"/>
                <a:ea typeface="Inter" pitchFamily="34" charset="-122"/>
                <a:cs typeface="Arial" panose="020B0604020202020204" pitchFamily="34" charset="0"/>
              </a:rPr>
              <a:t>POST /bob/briefing</a:t>
            </a:r>
            <a:endParaRPr lang="en-US" sz="1950" dirty="0">
              <a:latin typeface="Arial" panose="020B0604020202020204" pitchFamily="34" charset="0"/>
              <a:cs typeface="Arial" panose="020B0604020202020204" pitchFamily="34" charset="0"/>
            </a:endParaRPr>
          </a:p>
        </p:txBody>
      </p:sp>
      <p:sp>
        <p:nvSpPr>
          <p:cNvPr id="12" name="Text 7"/>
          <p:cNvSpPr/>
          <p:nvPr/>
        </p:nvSpPr>
        <p:spPr>
          <a:xfrm>
            <a:off x="1905000" y="5000625"/>
            <a:ext cx="4191000" cy="542925"/>
          </a:xfrm>
          <a:prstGeom prst="rect">
            <a:avLst/>
          </a:prstGeom>
          <a:noFill/>
        </p:spPr>
        <p:txBody>
          <a:bodyPr wrap="square" rtlCol="0" anchor="ctr"/>
          <a:lstStyle/>
          <a:p>
            <a:pPr marL="0" indent="0" algn="l">
              <a:lnSpc>
                <a:spcPct val="135000"/>
              </a:lnSpc>
              <a:buNone/>
            </a:pPr>
            <a:r>
              <a:rPr lang="en-US" sz="1575" dirty="0">
                <a:solidFill>
                  <a:srgbClr val="21272A"/>
                </a:solidFill>
                <a:latin typeface="Arial" panose="020B0604020202020204" pitchFamily="34" charset="0"/>
                <a:ea typeface="Inter" pitchFamily="34" charset="-122"/>
                <a:cs typeface="Arial" panose="020B0604020202020204" pitchFamily="34" charset="0"/>
              </a:rPr>
              <a:t>Generates plain-English operational briefings for the whole grid in seconds.</a:t>
            </a:r>
            <a:endParaRPr lang="en-US" sz="1575" dirty="0">
              <a:latin typeface="Arial" panose="020B0604020202020204" pitchFamily="34" charset="0"/>
              <a:cs typeface="Arial" panose="020B0604020202020204" pitchFamily="34" charset="0"/>
            </a:endParaRPr>
          </a:p>
        </p:txBody>
      </p:sp>
      <p:pic>
        <p:nvPicPr>
          <p:cNvPr id="13" name="Image 3" descr="preencoded.png"/>
          <p:cNvPicPr>
            <a:picLocks noChangeAspect="1"/>
          </p:cNvPicPr>
          <p:nvPr/>
        </p:nvPicPr>
        <p:blipFill>
          <a:blip r:embed="rId2"/>
          <a:stretch>
            <a:fillRect/>
          </a:stretch>
        </p:blipFill>
        <p:spPr>
          <a:xfrm>
            <a:off x="1047750" y="6477000"/>
            <a:ext cx="5334000" cy="2000250"/>
          </a:xfrm>
          <a:prstGeom prst="rect">
            <a:avLst/>
          </a:prstGeom>
        </p:spPr>
      </p:pic>
      <p:sp>
        <p:nvSpPr>
          <p:cNvPr id="14" name="Text 8"/>
          <p:cNvSpPr/>
          <p:nvPr/>
        </p:nvSpPr>
        <p:spPr>
          <a:xfrm>
            <a:off x="1381125" y="6715125"/>
            <a:ext cx="381000" cy="485775"/>
          </a:xfrm>
          <a:prstGeom prst="rect">
            <a:avLst/>
          </a:prstGeom>
          <a:noFill/>
        </p:spPr>
        <p:txBody>
          <a:bodyPr wrap="square" rtlCol="0" anchor="ctr"/>
          <a:lstStyle/>
          <a:p>
            <a:pPr marL="0" indent="0" algn="l">
              <a:buNone/>
            </a:pPr>
            <a:r>
              <a:rPr lang="en-US" sz="2550" b="1" dirty="0">
                <a:solidFill>
                  <a:srgbClr val="0F62FE"/>
                </a:solidFill>
                <a:latin typeface="Arial" panose="020B0604020202020204" pitchFamily="34" charset="0"/>
                <a:ea typeface="Inter" pitchFamily="34" charset="-122"/>
                <a:cs typeface="Arial" panose="020B0604020202020204" pitchFamily="34" charset="0"/>
              </a:rPr>
              <a:t>3</a:t>
            </a:r>
            <a:endParaRPr lang="en-US" sz="2550" dirty="0">
              <a:latin typeface="Arial" panose="020B0604020202020204" pitchFamily="34" charset="0"/>
              <a:cs typeface="Arial" panose="020B0604020202020204" pitchFamily="34" charset="0"/>
            </a:endParaRPr>
          </a:p>
        </p:txBody>
      </p:sp>
      <p:sp>
        <p:nvSpPr>
          <p:cNvPr id="15" name="Text 9"/>
          <p:cNvSpPr/>
          <p:nvPr/>
        </p:nvSpPr>
        <p:spPr>
          <a:xfrm>
            <a:off x="1905000" y="6762750"/>
            <a:ext cx="4191000" cy="342900"/>
          </a:xfrm>
          <a:prstGeom prst="rect">
            <a:avLst/>
          </a:prstGeom>
          <a:noFill/>
        </p:spPr>
        <p:txBody>
          <a:bodyPr wrap="square" rtlCol="0" anchor="ctr"/>
          <a:lstStyle/>
          <a:p>
            <a:pPr marL="0" indent="0" algn="l">
              <a:buNone/>
            </a:pPr>
            <a:r>
              <a:rPr lang="en-US" sz="1800" b="1" dirty="0">
                <a:solidFill>
                  <a:srgbClr val="001D6C"/>
                </a:solidFill>
                <a:latin typeface="Arial" panose="020B0604020202020204" pitchFamily="34" charset="0"/>
                <a:ea typeface="Inter" pitchFamily="34" charset="-122"/>
                <a:cs typeface="Arial" panose="020B0604020202020204" pitchFamily="34" charset="0"/>
              </a:rPr>
              <a:t>GET /bob/explain/{asset_id}</a:t>
            </a:r>
            <a:endParaRPr lang="en-US" sz="1800" dirty="0">
              <a:latin typeface="Arial" panose="020B0604020202020204" pitchFamily="34" charset="0"/>
              <a:cs typeface="Arial" panose="020B0604020202020204" pitchFamily="34" charset="0"/>
            </a:endParaRPr>
          </a:p>
        </p:txBody>
      </p:sp>
      <p:sp>
        <p:nvSpPr>
          <p:cNvPr id="16" name="Text 10"/>
          <p:cNvSpPr/>
          <p:nvPr/>
        </p:nvSpPr>
        <p:spPr>
          <a:xfrm>
            <a:off x="1905000" y="7239000"/>
            <a:ext cx="4191000" cy="542925"/>
          </a:xfrm>
          <a:prstGeom prst="rect">
            <a:avLst/>
          </a:prstGeom>
          <a:noFill/>
        </p:spPr>
        <p:txBody>
          <a:bodyPr wrap="square" rtlCol="0" anchor="ctr"/>
          <a:lstStyle/>
          <a:p>
            <a:pPr marL="0" indent="0" algn="l">
              <a:lnSpc>
                <a:spcPct val="135000"/>
              </a:lnSpc>
              <a:buNone/>
            </a:pPr>
            <a:r>
              <a:rPr lang="en-US" sz="1575" dirty="0">
                <a:solidFill>
                  <a:srgbClr val="21272A"/>
                </a:solidFill>
                <a:latin typeface="Arial" panose="020B0604020202020204" pitchFamily="34" charset="0"/>
                <a:ea typeface="Inter" pitchFamily="34" charset="-122"/>
                <a:cs typeface="Arial" panose="020B0604020202020204" pitchFamily="34" charset="0"/>
              </a:rPr>
              <a:t>Delivers asset-specific risk explanations, with a rule-based fallback for reliability.</a:t>
            </a:r>
            <a:endParaRPr lang="en-US" sz="1575" dirty="0">
              <a:latin typeface="Arial" panose="020B0604020202020204" pitchFamily="34" charset="0"/>
              <a:cs typeface="Arial" panose="020B0604020202020204" pitchFamily="34" charset="0"/>
            </a:endParaRPr>
          </a:p>
        </p:txBody>
      </p:sp>
      <p:pic>
        <p:nvPicPr>
          <p:cNvPr id="17" name="Image 4" descr="preencoded.png"/>
          <p:cNvPicPr>
            <a:picLocks noChangeAspect="1"/>
          </p:cNvPicPr>
          <p:nvPr/>
        </p:nvPicPr>
        <p:blipFill>
          <a:blip r:embed="rId3"/>
          <a:stretch>
            <a:fillRect/>
          </a:stretch>
        </p:blipFill>
        <p:spPr>
          <a:xfrm>
            <a:off x="6953250" y="2000250"/>
            <a:ext cx="10287000" cy="2857500"/>
          </a:xfrm>
          <a:prstGeom prst="rect">
            <a:avLst/>
          </a:prstGeom>
        </p:spPr>
      </p:pic>
      <p:sp>
        <p:nvSpPr>
          <p:cNvPr id="18" name="Text 11"/>
          <p:cNvSpPr/>
          <p:nvPr/>
        </p:nvSpPr>
        <p:spPr>
          <a:xfrm>
            <a:off x="7429500" y="2428875"/>
            <a:ext cx="9334500" cy="285750"/>
          </a:xfrm>
          <a:prstGeom prst="rect">
            <a:avLst/>
          </a:prstGeom>
          <a:noFill/>
        </p:spPr>
        <p:txBody>
          <a:bodyPr wrap="square" rtlCol="0" anchor="ctr"/>
          <a:lstStyle/>
          <a:p>
            <a:pPr marL="0" indent="0" algn="l">
              <a:buNone/>
            </a:pPr>
            <a:r>
              <a:rPr lang="en-US" sz="1500" b="1" dirty="0">
                <a:solidFill>
                  <a:srgbClr val="C9DDFF"/>
                </a:solidFill>
                <a:latin typeface="Arial" panose="020B0604020202020204" pitchFamily="34" charset="0"/>
                <a:ea typeface="Inter" pitchFamily="34" charset="-122"/>
                <a:cs typeface="Arial" panose="020B0604020202020204" pitchFamily="34" charset="0"/>
              </a:rPr>
              <a:t>WHY IT MATTERS</a:t>
            </a:r>
            <a:endParaRPr lang="en-US" sz="1500" dirty="0">
              <a:latin typeface="Arial" panose="020B0604020202020204" pitchFamily="34" charset="0"/>
              <a:cs typeface="Arial" panose="020B0604020202020204" pitchFamily="34" charset="0"/>
            </a:endParaRPr>
          </a:p>
        </p:txBody>
      </p:sp>
      <p:sp>
        <p:nvSpPr>
          <p:cNvPr id="19" name="Text 12"/>
          <p:cNvSpPr/>
          <p:nvPr/>
        </p:nvSpPr>
        <p:spPr>
          <a:xfrm>
            <a:off x="7429500" y="3000375"/>
            <a:ext cx="9334500" cy="1171575"/>
          </a:xfrm>
          <a:prstGeom prst="rect">
            <a:avLst/>
          </a:prstGeom>
          <a:noFill/>
        </p:spPr>
        <p:txBody>
          <a:bodyPr wrap="square" rtlCol="0" anchor="ctr"/>
          <a:lstStyle/>
          <a:p>
            <a:pPr marL="0" indent="0" algn="l">
              <a:lnSpc>
                <a:spcPct val="110000"/>
              </a:lnSpc>
              <a:buNone/>
            </a:pPr>
            <a:r>
              <a:rPr lang="en-US" sz="4200" b="1" dirty="0">
                <a:solidFill>
                  <a:srgbClr val="FFFFFF"/>
                </a:solidFill>
                <a:latin typeface="Arial" panose="020B0604020202020204" pitchFamily="34" charset="0"/>
                <a:ea typeface="Inter" pitchFamily="34" charset="-122"/>
                <a:cs typeface="Arial" panose="020B0604020202020204" pitchFamily="34" charset="0"/>
              </a:rPr>
              <a:t>“Bob is load-bearing, not decorative.”</a:t>
            </a:r>
            <a:endParaRPr lang="en-US" sz="4200" dirty="0">
              <a:latin typeface="Arial" panose="020B0604020202020204" pitchFamily="34" charset="0"/>
              <a:cs typeface="Arial" panose="020B0604020202020204" pitchFamily="34" charset="0"/>
            </a:endParaRPr>
          </a:p>
        </p:txBody>
      </p:sp>
      <p:sp>
        <p:nvSpPr>
          <p:cNvPr id="20" name="Text 13"/>
          <p:cNvSpPr/>
          <p:nvPr/>
        </p:nvSpPr>
        <p:spPr>
          <a:xfrm>
            <a:off x="6953250" y="5334000"/>
            <a:ext cx="10287000" cy="257175"/>
          </a:xfrm>
          <a:prstGeom prst="rect">
            <a:avLst/>
          </a:prstGeom>
          <a:noFill/>
        </p:spPr>
        <p:txBody>
          <a:bodyPr wrap="square" rtlCol="0" anchor="ctr"/>
          <a:lstStyle/>
          <a:p>
            <a:pPr marL="0" indent="0" algn="l">
              <a:buNone/>
            </a:pPr>
            <a:r>
              <a:rPr lang="en-US" sz="1350" b="1" dirty="0">
                <a:solidFill>
                  <a:srgbClr val="697077"/>
                </a:solidFill>
                <a:latin typeface="Arial" panose="020B0604020202020204" pitchFamily="34" charset="0"/>
                <a:ea typeface="Inter" pitchFamily="34" charset="-122"/>
                <a:cs typeface="Arial" panose="020B0604020202020204" pitchFamily="34" charset="0"/>
              </a:rPr>
              <a:t>INTELLIGENCE FLOW</a:t>
            </a:r>
            <a:endParaRPr lang="en-US" sz="1350" dirty="0">
              <a:latin typeface="Arial" panose="020B0604020202020204" pitchFamily="34" charset="0"/>
              <a:cs typeface="Arial" panose="020B0604020202020204" pitchFamily="34" charset="0"/>
            </a:endParaRPr>
          </a:p>
        </p:txBody>
      </p:sp>
      <p:sp>
        <p:nvSpPr>
          <p:cNvPr id="21" name="Text 14"/>
          <p:cNvSpPr/>
          <p:nvPr/>
        </p:nvSpPr>
        <p:spPr>
          <a:xfrm>
            <a:off x="6953250" y="5905500"/>
            <a:ext cx="10287000" cy="800100"/>
          </a:xfrm>
          <a:prstGeom prst="rect">
            <a:avLst/>
          </a:prstGeom>
          <a:noFill/>
        </p:spPr>
        <p:txBody>
          <a:bodyPr wrap="square" rtlCol="0" anchor="ctr"/>
          <a:lstStyle/>
          <a:p>
            <a:pPr marL="0" indent="0" algn="l">
              <a:lnSpc>
                <a:spcPct val="140000"/>
              </a:lnSpc>
              <a:buNone/>
            </a:pPr>
            <a:r>
              <a:rPr lang="en-US" sz="2250" b="1" dirty="0">
                <a:solidFill>
                  <a:srgbClr val="001D6C"/>
                </a:solidFill>
                <a:latin typeface="Arial" panose="020B0604020202020204" pitchFamily="34" charset="0"/>
                <a:ea typeface="Inter" pitchFamily="34" charset="-122"/>
                <a:cs typeface="Arial" panose="020B0604020202020204" pitchFamily="34" charset="0"/>
              </a:rPr>
              <a:t>Operator  →  Bob  →  Grid Advisor  →  Risk &amp; Explanation  →  Operations Team</a:t>
            </a:r>
            <a:endParaRPr lang="en-US" sz="2250" dirty="0">
              <a:latin typeface="Arial" panose="020B0604020202020204" pitchFamily="34" charset="0"/>
              <a:cs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1D6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0" y="0"/>
            <a:ext cx="18288000" cy="4000500"/>
          </a:xfrm>
          <a:prstGeom prst="rect">
            <a:avLst/>
          </a:prstGeom>
        </p:spPr>
      </p:pic>
      <p:pic>
        <p:nvPicPr>
          <p:cNvPr id="3" name="Image 1" descr="preencoded.png"/>
          <p:cNvPicPr>
            <a:picLocks noChangeAspect="1"/>
          </p:cNvPicPr>
          <p:nvPr/>
        </p:nvPicPr>
        <p:blipFill>
          <a:blip r:embed="rId2"/>
          <a:stretch>
            <a:fillRect/>
          </a:stretch>
        </p:blipFill>
        <p:spPr>
          <a:xfrm>
            <a:off x="0" y="0"/>
            <a:ext cx="18288000" cy="4000500"/>
          </a:xfrm>
          <a:prstGeom prst="rect">
            <a:avLst/>
          </a:prstGeom>
        </p:spPr>
      </p:pic>
      <p:sp>
        <p:nvSpPr>
          <p:cNvPr id="4" name="Text 0"/>
          <p:cNvSpPr/>
          <p:nvPr/>
        </p:nvSpPr>
        <p:spPr>
          <a:xfrm>
            <a:off x="1047750" y="666750"/>
            <a:ext cx="6667500" cy="285750"/>
          </a:xfrm>
          <a:prstGeom prst="rect">
            <a:avLst/>
          </a:prstGeom>
          <a:noFill/>
        </p:spPr>
        <p:txBody>
          <a:bodyPr wrap="square" rtlCol="0" anchor="ctr"/>
          <a:lstStyle/>
          <a:p>
            <a:pPr marL="0" indent="0" algn="l">
              <a:buNone/>
            </a:pPr>
            <a:r>
              <a:rPr lang="en-US" sz="1500" b="1" dirty="0">
                <a:solidFill>
                  <a:srgbClr val="78A9FF"/>
                </a:solidFill>
                <a:latin typeface="Arial" panose="020B0604020202020204" pitchFamily="34" charset="0"/>
                <a:ea typeface="Inter" pitchFamily="34" charset="-122"/>
                <a:cs typeface="Arial" panose="020B0604020202020204" pitchFamily="34" charset="0"/>
              </a:rPr>
              <a:t>07  /  RESULTS, IMPACT &amp; TEAM</a:t>
            </a:r>
            <a:endParaRPr lang="en-US" sz="1500" dirty="0">
              <a:latin typeface="Arial" panose="020B0604020202020204" pitchFamily="34" charset="0"/>
              <a:cs typeface="Arial" panose="020B0604020202020204" pitchFamily="34" charset="0"/>
            </a:endParaRPr>
          </a:p>
        </p:txBody>
      </p:sp>
      <p:sp>
        <p:nvSpPr>
          <p:cNvPr id="5" name="Text 1"/>
          <p:cNvSpPr/>
          <p:nvPr/>
        </p:nvSpPr>
        <p:spPr>
          <a:xfrm>
            <a:off x="1047750" y="1047750"/>
            <a:ext cx="13335000" cy="962025"/>
          </a:xfrm>
          <a:prstGeom prst="rect">
            <a:avLst/>
          </a:prstGeom>
          <a:noFill/>
        </p:spPr>
        <p:txBody>
          <a:bodyPr wrap="square" rtlCol="0" anchor="ctr"/>
          <a:lstStyle/>
          <a:p>
            <a:pPr marL="0" indent="0" algn="l">
              <a:lnSpc>
                <a:spcPct val="110000"/>
              </a:lnSpc>
              <a:buNone/>
            </a:pPr>
            <a:r>
              <a:rPr lang="en-US" sz="3450" b="1" dirty="0">
                <a:solidFill>
                  <a:srgbClr val="FFFFFF"/>
                </a:solidFill>
                <a:latin typeface="Arial" panose="020B0604020202020204" pitchFamily="34" charset="0"/>
                <a:ea typeface="Inter" pitchFamily="34" charset="-122"/>
                <a:cs typeface="Arial" panose="020B0604020202020204" pitchFamily="34" charset="0"/>
              </a:rPr>
              <a:t>A proven, production-ready solution built for real-world reliability.</a:t>
            </a:r>
            <a:endParaRPr lang="en-US" sz="3450" dirty="0">
              <a:latin typeface="Arial" panose="020B0604020202020204" pitchFamily="34" charset="0"/>
              <a:cs typeface="Arial" panose="020B0604020202020204" pitchFamily="34" charset="0"/>
            </a:endParaRPr>
          </a:p>
        </p:txBody>
      </p:sp>
      <p:pic>
        <p:nvPicPr>
          <p:cNvPr id="6" name="Image 2" descr="preencoded.png"/>
          <p:cNvPicPr>
            <a:picLocks noChangeAspect="1"/>
          </p:cNvPicPr>
          <p:nvPr/>
        </p:nvPicPr>
        <p:blipFill>
          <a:blip r:embed="rId3"/>
          <a:stretch>
            <a:fillRect/>
          </a:stretch>
        </p:blipFill>
        <p:spPr>
          <a:xfrm>
            <a:off x="1047750" y="2381250"/>
            <a:ext cx="2476500" cy="1238250"/>
          </a:xfrm>
          <a:prstGeom prst="rect">
            <a:avLst/>
          </a:prstGeom>
        </p:spPr>
      </p:pic>
      <p:sp>
        <p:nvSpPr>
          <p:cNvPr id="7" name="Text 2"/>
          <p:cNvSpPr/>
          <p:nvPr/>
        </p:nvSpPr>
        <p:spPr>
          <a:xfrm>
            <a:off x="1238250" y="2571750"/>
            <a:ext cx="2095500" cy="685800"/>
          </a:xfrm>
          <a:prstGeom prst="rect">
            <a:avLst/>
          </a:prstGeom>
          <a:noFill/>
        </p:spPr>
        <p:txBody>
          <a:bodyPr wrap="square" rtlCol="0" anchor="ctr"/>
          <a:lstStyle/>
          <a:p>
            <a:pPr marL="0" indent="0" algn="l">
              <a:buNone/>
            </a:pPr>
            <a:r>
              <a:rPr lang="en-US" sz="3600" b="1" dirty="0">
                <a:solidFill>
                  <a:srgbClr val="FFFFFF"/>
                </a:solidFill>
                <a:latin typeface="Arial" panose="020B0604020202020204" pitchFamily="34" charset="0"/>
                <a:ea typeface="Inter" pitchFamily="34" charset="-122"/>
                <a:cs typeface="Arial" panose="020B0604020202020204" pitchFamily="34" charset="0"/>
              </a:rPr>
              <a:t>15</a:t>
            </a:r>
            <a:endParaRPr lang="en-US" sz="3600" dirty="0">
              <a:latin typeface="Arial" panose="020B0604020202020204" pitchFamily="34" charset="0"/>
              <a:cs typeface="Arial" panose="020B0604020202020204" pitchFamily="34" charset="0"/>
            </a:endParaRPr>
          </a:p>
        </p:txBody>
      </p:sp>
      <p:sp>
        <p:nvSpPr>
          <p:cNvPr id="8" name="Text 3"/>
          <p:cNvSpPr/>
          <p:nvPr/>
        </p:nvSpPr>
        <p:spPr>
          <a:xfrm>
            <a:off x="1238250" y="3190875"/>
            <a:ext cx="2095500" cy="247650"/>
          </a:xfrm>
          <a:prstGeom prst="rect">
            <a:avLst/>
          </a:prstGeom>
          <a:noFill/>
        </p:spPr>
        <p:txBody>
          <a:bodyPr wrap="square" rtlCol="0" anchor="ctr"/>
          <a:lstStyle/>
          <a:p>
            <a:pPr marL="0" indent="0" algn="l">
              <a:buNone/>
            </a:pPr>
            <a:r>
              <a:rPr lang="en-US" sz="1275" dirty="0">
                <a:solidFill>
                  <a:srgbClr val="C9DDFF"/>
                </a:solidFill>
                <a:latin typeface="Arial" panose="020B0604020202020204" pitchFamily="34" charset="0"/>
                <a:ea typeface="Inter" pitchFamily="34" charset="-122"/>
                <a:cs typeface="Arial" panose="020B0604020202020204" pitchFamily="34" charset="0"/>
              </a:rPr>
              <a:t>assets monitored &amp; ranked</a:t>
            </a:r>
            <a:endParaRPr lang="en-US" sz="1275" dirty="0">
              <a:latin typeface="Arial" panose="020B0604020202020204" pitchFamily="34" charset="0"/>
              <a:cs typeface="Arial" panose="020B0604020202020204" pitchFamily="34" charset="0"/>
            </a:endParaRPr>
          </a:p>
        </p:txBody>
      </p:sp>
      <p:pic>
        <p:nvPicPr>
          <p:cNvPr id="9" name="Image 3" descr="preencoded.png"/>
          <p:cNvPicPr>
            <a:picLocks noChangeAspect="1"/>
          </p:cNvPicPr>
          <p:nvPr/>
        </p:nvPicPr>
        <p:blipFill>
          <a:blip r:embed="rId3"/>
          <a:stretch>
            <a:fillRect/>
          </a:stretch>
        </p:blipFill>
        <p:spPr>
          <a:xfrm>
            <a:off x="3714750" y="2381250"/>
            <a:ext cx="2476500" cy="1238250"/>
          </a:xfrm>
          <a:prstGeom prst="rect">
            <a:avLst/>
          </a:prstGeom>
        </p:spPr>
      </p:pic>
      <p:sp>
        <p:nvSpPr>
          <p:cNvPr id="10" name="Text 4"/>
          <p:cNvSpPr/>
          <p:nvPr/>
        </p:nvSpPr>
        <p:spPr>
          <a:xfrm>
            <a:off x="3905250" y="2571750"/>
            <a:ext cx="2095500" cy="685800"/>
          </a:xfrm>
          <a:prstGeom prst="rect">
            <a:avLst/>
          </a:prstGeom>
          <a:noFill/>
        </p:spPr>
        <p:txBody>
          <a:bodyPr wrap="square" rtlCol="0" anchor="ctr"/>
          <a:lstStyle/>
          <a:p>
            <a:pPr marL="0" indent="0" algn="l">
              <a:buNone/>
            </a:pPr>
            <a:r>
              <a:rPr lang="en-US" sz="3600" b="1" dirty="0">
                <a:solidFill>
                  <a:srgbClr val="FFFFFF"/>
                </a:solidFill>
                <a:latin typeface="Arial" panose="020B0604020202020204" pitchFamily="34" charset="0"/>
                <a:ea typeface="Inter" pitchFamily="34" charset="-122"/>
                <a:cs typeface="Arial" panose="020B0604020202020204" pitchFamily="34" charset="0"/>
              </a:rPr>
              <a:t>43</a:t>
            </a:r>
            <a:endParaRPr lang="en-US" sz="3600" dirty="0">
              <a:latin typeface="Arial" panose="020B0604020202020204" pitchFamily="34" charset="0"/>
              <a:cs typeface="Arial" panose="020B0604020202020204" pitchFamily="34" charset="0"/>
            </a:endParaRPr>
          </a:p>
        </p:txBody>
      </p:sp>
      <p:sp>
        <p:nvSpPr>
          <p:cNvPr id="11" name="Text 5"/>
          <p:cNvSpPr/>
          <p:nvPr/>
        </p:nvSpPr>
        <p:spPr>
          <a:xfrm>
            <a:off x="3905250" y="3190875"/>
            <a:ext cx="2095500" cy="247650"/>
          </a:xfrm>
          <a:prstGeom prst="rect">
            <a:avLst/>
          </a:prstGeom>
          <a:noFill/>
        </p:spPr>
        <p:txBody>
          <a:bodyPr wrap="square" rtlCol="0" anchor="ctr"/>
          <a:lstStyle/>
          <a:p>
            <a:pPr marL="0" indent="0" algn="l">
              <a:buNone/>
            </a:pPr>
            <a:r>
              <a:rPr lang="en-US" sz="1275" dirty="0">
                <a:solidFill>
                  <a:srgbClr val="C9DDFF"/>
                </a:solidFill>
                <a:latin typeface="Arial" panose="020B0604020202020204" pitchFamily="34" charset="0"/>
                <a:ea typeface="Inter" pitchFamily="34" charset="-122"/>
                <a:cs typeface="Arial" panose="020B0604020202020204" pitchFamily="34" charset="0"/>
              </a:rPr>
              <a:t>pytest tests passing</a:t>
            </a:r>
            <a:endParaRPr lang="en-US" sz="1275" dirty="0">
              <a:latin typeface="Arial" panose="020B0604020202020204" pitchFamily="34" charset="0"/>
              <a:cs typeface="Arial" panose="020B0604020202020204" pitchFamily="34" charset="0"/>
            </a:endParaRPr>
          </a:p>
        </p:txBody>
      </p:sp>
      <p:pic>
        <p:nvPicPr>
          <p:cNvPr id="12" name="Image 4" descr="preencoded.png"/>
          <p:cNvPicPr>
            <a:picLocks noChangeAspect="1"/>
          </p:cNvPicPr>
          <p:nvPr/>
        </p:nvPicPr>
        <p:blipFill>
          <a:blip r:embed="rId3"/>
          <a:stretch>
            <a:fillRect/>
          </a:stretch>
        </p:blipFill>
        <p:spPr>
          <a:xfrm>
            <a:off x="6381750" y="2381250"/>
            <a:ext cx="2476500" cy="1238250"/>
          </a:xfrm>
          <a:prstGeom prst="rect">
            <a:avLst/>
          </a:prstGeom>
        </p:spPr>
      </p:pic>
      <p:sp>
        <p:nvSpPr>
          <p:cNvPr id="13" name="Text 6"/>
          <p:cNvSpPr/>
          <p:nvPr/>
        </p:nvSpPr>
        <p:spPr>
          <a:xfrm>
            <a:off x="6572250" y="2571750"/>
            <a:ext cx="2095500" cy="600075"/>
          </a:xfrm>
          <a:prstGeom prst="rect">
            <a:avLst/>
          </a:prstGeom>
          <a:noFill/>
        </p:spPr>
        <p:txBody>
          <a:bodyPr wrap="square" rtlCol="0" anchor="ctr"/>
          <a:lstStyle/>
          <a:p>
            <a:pPr marL="0" indent="0" algn="l">
              <a:buNone/>
            </a:pPr>
            <a:r>
              <a:rPr lang="en-US" sz="3150" b="1" dirty="0">
                <a:solidFill>
                  <a:srgbClr val="FFFFFF"/>
                </a:solidFill>
                <a:latin typeface="Arial" panose="020B0604020202020204" pitchFamily="34" charset="0"/>
                <a:ea typeface="Inter" pitchFamily="34" charset="-122"/>
                <a:cs typeface="Arial" panose="020B0604020202020204" pitchFamily="34" charset="0"/>
              </a:rPr>
              <a:t>LIVE</a:t>
            </a:r>
            <a:endParaRPr lang="en-US" sz="3150" dirty="0">
              <a:latin typeface="Arial" panose="020B0604020202020204" pitchFamily="34" charset="0"/>
              <a:cs typeface="Arial" panose="020B0604020202020204" pitchFamily="34" charset="0"/>
            </a:endParaRPr>
          </a:p>
        </p:txBody>
      </p:sp>
      <p:sp>
        <p:nvSpPr>
          <p:cNvPr id="14" name="Text 7"/>
          <p:cNvSpPr/>
          <p:nvPr/>
        </p:nvSpPr>
        <p:spPr>
          <a:xfrm>
            <a:off x="6572250" y="3190875"/>
            <a:ext cx="2095500" cy="247650"/>
          </a:xfrm>
          <a:prstGeom prst="rect">
            <a:avLst/>
          </a:prstGeom>
          <a:noFill/>
        </p:spPr>
        <p:txBody>
          <a:bodyPr wrap="square" rtlCol="0" anchor="ctr"/>
          <a:lstStyle/>
          <a:p>
            <a:pPr marL="0" indent="0" algn="l">
              <a:buNone/>
            </a:pPr>
            <a:r>
              <a:rPr lang="en-US" sz="1275" dirty="0">
                <a:solidFill>
                  <a:srgbClr val="C9DDFF"/>
                </a:solidFill>
                <a:latin typeface="Arial" panose="020B0604020202020204" pitchFamily="34" charset="0"/>
                <a:ea typeface="Inter" pitchFamily="34" charset="-122"/>
                <a:cs typeface="Arial" panose="020B0604020202020204" pitchFamily="34" charset="0"/>
              </a:rPr>
              <a:t>demo deployed</a:t>
            </a:r>
            <a:endParaRPr lang="en-US" sz="1275" dirty="0">
              <a:latin typeface="Arial" panose="020B0604020202020204" pitchFamily="34" charset="0"/>
              <a:cs typeface="Arial" panose="020B0604020202020204" pitchFamily="34" charset="0"/>
            </a:endParaRPr>
          </a:p>
        </p:txBody>
      </p:sp>
      <p:pic>
        <p:nvPicPr>
          <p:cNvPr id="15" name="Image 5" descr="preencoded.png"/>
          <p:cNvPicPr>
            <a:picLocks noChangeAspect="1"/>
          </p:cNvPicPr>
          <p:nvPr/>
        </p:nvPicPr>
        <p:blipFill>
          <a:blip r:embed="rId3"/>
          <a:stretch>
            <a:fillRect/>
          </a:stretch>
        </p:blipFill>
        <p:spPr>
          <a:xfrm>
            <a:off x="9048750" y="2381250"/>
            <a:ext cx="2476500" cy="1238250"/>
          </a:xfrm>
          <a:prstGeom prst="rect">
            <a:avLst/>
          </a:prstGeom>
        </p:spPr>
      </p:pic>
      <p:sp>
        <p:nvSpPr>
          <p:cNvPr id="16" name="Text 8"/>
          <p:cNvSpPr/>
          <p:nvPr/>
        </p:nvSpPr>
        <p:spPr>
          <a:xfrm>
            <a:off x="9239250" y="2571750"/>
            <a:ext cx="2095500" cy="685800"/>
          </a:xfrm>
          <a:prstGeom prst="rect">
            <a:avLst/>
          </a:prstGeom>
          <a:noFill/>
        </p:spPr>
        <p:txBody>
          <a:bodyPr wrap="square" rtlCol="0" anchor="ctr"/>
          <a:lstStyle/>
          <a:p>
            <a:pPr marL="0" indent="0" algn="l">
              <a:buNone/>
            </a:pPr>
            <a:r>
              <a:rPr lang="en-US" sz="3600" b="1" dirty="0">
                <a:solidFill>
                  <a:srgbClr val="FFFFFF"/>
                </a:solidFill>
                <a:latin typeface="Arial" panose="020B0604020202020204" pitchFamily="34" charset="0"/>
                <a:ea typeface="Inter" pitchFamily="34" charset="-122"/>
                <a:cs typeface="Arial" panose="020B0604020202020204" pitchFamily="34" charset="0"/>
              </a:rPr>
              <a:t>30 s</a:t>
            </a:r>
            <a:endParaRPr lang="en-US" sz="3600" dirty="0">
              <a:latin typeface="Arial" panose="020B0604020202020204" pitchFamily="34" charset="0"/>
              <a:cs typeface="Arial" panose="020B0604020202020204" pitchFamily="34" charset="0"/>
            </a:endParaRPr>
          </a:p>
        </p:txBody>
      </p:sp>
      <p:sp>
        <p:nvSpPr>
          <p:cNvPr id="17" name="Text 9"/>
          <p:cNvSpPr/>
          <p:nvPr/>
        </p:nvSpPr>
        <p:spPr>
          <a:xfrm>
            <a:off x="9239250" y="3190875"/>
            <a:ext cx="2095500" cy="247650"/>
          </a:xfrm>
          <a:prstGeom prst="rect">
            <a:avLst/>
          </a:prstGeom>
          <a:noFill/>
        </p:spPr>
        <p:txBody>
          <a:bodyPr wrap="square" rtlCol="0" anchor="ctr"/>
          <a:lstStyle/>
          <a:p>
            <a:pPr marL="0" indent="0" algn="l">
              <a:buNone/>
            </a:pPr>
            <a:r>
              <a:rPr lang="en-US" sz="1275" dirty="0">
                <a:solidFill>
                  <a:srgbClr val="C9DDFF"/>
                </a:solidFill>
                <a:latin typeface="Arial" panose="020B0604020202020204" pitchFamily="34" charset="0"/>
                <a:ea typeface="Inter" pitchFamily="34" charset="-122"/>
                <a:cs typeface="Arial" panose="020B0604020202020204" pitchFamily="34" charset="0"/>
              </a:rPr>
              <a:t>operational briefing</a:t>
            </a:r>
            <a:endParaRPr lang="en-US" sz="1275" dirty="0">
              <a:latin typeface="Arial" panose="020B0604020202020204" pitchFamily="34" charset="0"/>
              <a:cs typeface="Arial" panose="020B0604020202020204" pitchFamily="34" charset="0"/>
            </a:endParaRPr>
          </a:p>
        </p:txBody>
      </p:sp>
      <p:sp>
        <p:nvSpPr>
          <p:cNvPr id="18" name="Text 10"/>
          <p:cNvSpPr/>
          <p:nvPr/>
        </p:nvSpPr>
        <p:spPr>
          <a:xfrm>
            <a:off x="12001500" y="2428875"/>
            <a:ext cx="5334000" cy="838200"/>
          </a:xfrm>
          <a:prstGeom prst="rect">
            <a:avLst/>
          </a:prstGeom>
          <a:noFill/>
        </p:spPr>
        <p:txBody>
          <a:bodyPr wrap="square" rtlCol="0" anchor="ctr"/>
          <a:lstStyle/>
          <a:p>
            <a:pPr marL="0" indent="0" algn="l">
              <a:lnSpc>
                <a:spcPct val="140000"/>
              </a:lnSpc>
              <a:buNone/>
            </a:pPr>
            <a:r>
              <a:rPr lang="en-US" sz="1575" dirty="0">
                <a:solidFill>
                  <a:srgbClr val="FFFFFF"/>
                </a:solidFill>
                <a:latin typeface="Arial" panose="020B0604020202020204" pitchFamily="34" charset="0"/>
                <a:ea typeface="Inter" pitchFamily="34" charset="-122"/>
                <a:cs typeface="Arial" panose="020B0604020202020204" pitchFamily="34" charset="0"/>
              </a:rPr>
              <a:t>Standards-based formulas (IEEE · IEC · ISO) with full explainability. Projected impact: proactive maintenance &amp; optimized crew dispatch.</a:t>
            </a:r>
            <a:endParaRPr lang="en-US" sz="1575" dirty="0">
              <a:latin typeface="Arial" panose="020B0604020202020204" pitchFamily="34" charset="0"/>
              <a:cs typeface="Arial" panose="020B0604020202020204" pitchFamily="34" charset="0"/>
            </a:endParaRPr>
          </a:p>
        </p:txBody>
      </p:sp>
      <p:pic>
        <p:nvPicPr>
          <p:cNvPr id="19" name="Image 6" descr="preencoded.png"/>
          <p:cNvPicPr>
            <a:picLocks noChangeAspect="1"/>
          </p:cNvPicPr>
          <p:nvPr/>
        </p:nvPicPr>
        <p:blipFill>
          <a:blip r:embed="rId4"/>
          <a:stretch>
            <a:fillRect/>
          </a:stretch>
        </p:blipFill>
        <p:spPr>
          <a:xfrm>
            <a:off x="1047750" y="4191000"/>
            <a:ext cx="4000500" cy="1714500"/>
          </a:xfrm>
          <a:prstGeom prst="rect">
            <a:avLst/>
          </a:prstGeom>
        </p:spPr>
      </p:pic>
      <p:sp>
        <p:nvSpPr>
          <p:cNvPr id="20" name="Text 11"/>
          <p:cNvSpPr/>
          <p:nvPr/>
        </p:nvSpPr>
        <p:spPr>
          <a:xfrm>
            <a:off x="1333500" y="4524375"/>
            <a:ext cx="3429000" cy="400050"/>
          </a:xfrm>
          <a:prstGeom prst="rect">
            <a:avLst/>
          </a:prstGeom>
          <a:noFill/>
        </p:spPr>
        <p:txBody>
          <a:bodyPr wrap="square" rtlCol="0" anchor="ctr"/>
          <a:lstStyle/>
          <a:p>
            <a:pPr marL="0" indent="0" algn="l">
              <a:buNone/>
            </a:pPr>
            <a:r>
              <a:rPr lang="en-US" sz="2100" b="1" dirty="0">
                <a:solidFill>
                  <a:srgbClr val="001D6C"/>
                </a:solidFill>
                <a:latin typeface="Arial" panose="020B0604020202020204" pitchFamily="34" charset="0"/>
                <a:ea typeface="Inter" pitchFamily="34" charset="-122"/>
                <a:cs typeface="Arial" panose="020B0604020202020204" pitchFamily="34" charset="0"/>
              </a:rPr>
              <a:t>Anshi Ladani</a:t>
            </a:r>
            <a:endParaRPr lang="en-US" sz="2100" dirty="0">
              <a:latin typeface="Arial" panose="020B0604020202020204" pitchFamily="34" charset="0"/>
              <a:cs typeface="Arial" panose="020B0604020202020204" pitchFamily="34" charset="0"/>
            </a:endParaRPr>
          </a:p>
        </p:txBody>
      </p:sp>
      <p:pic>
        <p:nvPicPr>
          <p:cNvPr id="21" name="Image 7" descr="preencoded.png"/>
          <p:cNvPicPr>
            <a:picLocks noChangeAspect="1"/>
          </p:cNvPicPr>
          <p:nvPr/>
        </p:nvPicPr>
        <p:blipFill>
          <a:blip r:embed="rId4"/>
          <a:stretch>
            <a:fillRect/>
          </a:stretch>
        </p:blipFill>
        <p:spPr>
          <a:xfrm>
            <a:off x="5238750" y="4191000"/>
            <a:ext cx="4000500" cy="1714500"/>
          </a:xfrm>
          <a:prstGeom prst="rect">
            <a:avLst/>
          </a:prstGeom>
        </p:spPr>
      </p:pic>
      <p:sp>
        <p:nvSpPr>
          <p:cNvPr id="22" name="Text 12"/>
          <p:cNvSpPr/>
          <p:nvPr/>
        </p:nvSpPr>
        <p:spPr>
          <a:xfrm>
            <a:off x="5524500" y="4524375"/>
            <a:ext cx="3429000" cy="400050"/>
          </a:xfrm>
          <a:prstGeom prst="rect">
            <a:avLst/>
          </a:prstGeom>
          <a:noFill/>
        </p:spPr>
        <p:txBody>
          <a:bodyPr wrap="square" rtlCol="0" anchor="ctr"/>
          <a:lstStyle/>
          <a:p>
            <a:pPr marL="0" indent="0" algn="l">
              <a:buNone/>
            </a:pPr>
            <a:r>
              <a:rPr lang="en-US" sz="2100" b="1" dirty="0">
                <a:solidFill>
                  <a:srgbClr val="001D6C"/>
                </a:solidFill>
                <a:latin typeface="Arial" panose="020B0604020202020204" pitchFamily="34" charset="0"/>
                <a:ea typeface="Inter" pitchFamily="34" charset="-122"/>
                <a:cs typeface="Arial" panose="020B0604020202020204" pitchFamily="34" charset="0"/>
              </a:rPr>
              <a:t>Aemi Patel</a:t>
            </a:r>
            <a:endParaRPr lang="en-US" sz="2100" dirty="0">
              <a:latin typeface="Arial" panose="020B0604020202020204" pitchFamily="34" charset="0"/>
              <a:cs typeface="Arial" panose="020B0604020202020204" pitchFamily="34" charset="0"/>
            </a:endParaRPr>
          </a:p>
        </p:txBody>
      </p:sp>
      <p:pic>
        <p:nvPicPr>
          <p:cNvPr id="23" name="Image 8" descr="preencoded.png"/>
          <p:cNvPicPr>
            <a:picLocks noChangeAspect="1"/>
          </p:cNvPicPr>
          <p:nvPr/>
        </p:nvPicPr>
        <p:blipFill>
          <a:blip r:embed="rId4"/>
          <a:stretch>
            <a:fillRect/>
          </a:stretch>
        </p:blipFill>
        <p:spPr>
          <a:xfrm>
            <a:off x="9429750" y="4191000"/>
            <a:ext cx="4000500" cy="1714500"/>
          </a:xfrm>
          <a:prstGeom prst="rect">
            <a:avLst/>
          </a:prstGeom>
        </p:spPr>
      </p:pic>
      <p:sp>
        <p:nvSpPr>
          <p:cNvPr id="24" name="Text 13"/>
          <p:cNvSpPr/>
          <p:nvPr/>
        </p:nvSpPr>
        <p:spPr>
          <a:xfrm>
            <a:off x="9715500" y="4524375"/>
            <a:ext cx="3429000" cy="400050"/>
          </a:xfrm>
          <a:prstGeom prst="rect">
            <a:avLst/>
          </a:prstGeom>
          <a:noFill/>
        </p:spPr>
        <p:txBody>
          <a:bodyPr wrap="square" rtlCol="0" anchor="ctr"/>
          <a:lstStyle/>
          <a:p>
            <a:pPr marL="0" indent="0" algn="l">
              <a:buNone/>
            </a:pPr>
            <a:r>
              <a:rPr lang="en-US" sz="2100" b="1" dirty="0">
                <a:solidFill>
                  <a:srgbClr val="001D6C"/>
                </a:solidFill>
                <a:latin typeface="Arial" panose="020B0604020202020204" pitchFamily="34" charset="0"/>
                <a:ea typeface="Inter" pitchFamily="34" charset="-122"/>
                <a:cs typeface="Arial" panose="020B0604020202020204" pitchFamily="34" charset="0"/>
              </a:rPr>
              <a:t>Suyanshi Patel</a:t>
            </a:r>
            <a:endParaRPr lang="en-US" sz="2100" dirty="0">
              <a:latin typeface="Arial" panose="020B0604020202020204" pitchFamily="34" charset="0"/>
              <a:cs typeface="Arial" panose="020B0604020202020204" pitchFamily="34" charset="0"/>
            </a:endParaRPr>
          </a:p>
        </p:txBody>
      </p:sp>
      <p:pic>
        <p:nvPicPr>
          <p:cNvPr id="25" name="Image 9" descr="preencoded.png"/>
          <p:cNvPicPr>
            <a:picLocks noChangeAspect="1"/>
          </p:cNvPicPr>
          <p:nvPr/>
        </p:nvPicPr>
        <p:blipFill>
          <a:blip r:embed="rId5"/>
          <a:stretch>
            <a:fillRect/>
          </a:stretch>
        </p:blipFill>
        <p:spPr>
          <a:xfrm>
            <a:off x="13620750" y="4191000"/>
            <a:ext cx="3619500" cy="1714500"/>
          </a:xfrm>
          <a:prstGeom prst="rect">
            <a:avLst/>
          </a:prstGeom>
        </p:spPr>
      </p:pic>
      <p:sp>
        <p:nvSpPr>
          <p:cNvPr id="26" name="Text 14"/>
          <p:cNvSpPr/>
          <p:nvPr/>
        </p:nvSpPr>
        <p:spPr>
          <a:xfrm>
            <a:off x="13906500" y="4524375"/>
            <a:ext cx="3048000" cy="400050"/>
          </a:xfrm>
          <a:prstGeom prst="rect">
            <a:avLst/>
          </a:prstGeom>
          <a:noFill/>
        </p:spPr>
        <p:txBody>
          <a:bodyPr wrap="square" rtlCol="0" anchor="ctr"/>
          <a:lstStyle/>
          <a:p>
            <a:pPr marL="0" indent="0" algn="l">
              <a:buNone/>
            </a:pPr>
            <a:r>
              <a:rPr lang="en-US" sz="2100" b="1" dirty="0">
                <a:solidFill>
                  <a:srgbClr val="001D6C"/>
                </a:solidFill>
                <a:latin typeface="Arial" panose="020B0604020202020204" pitchFamily="34" charset="0"/>
                <a:ea typeface="Inter" pitchFamily="34" charset="-122"/>
                <a:cs typeface="Arial" panose="020B0604020202020204" pitchFamily="34" charset="0"/>
              </a:rPr>
              <a:t>Drashti Patel</a:t>
            </a:r>
            <a:endParaRPr lang="en-US" sz="2100" dirty="0">
              <a:latin typeface="Arial" panose="020B0604020202020204" pitchFamily="34" charset="0"/>
              <a:cs typeface="Arial" panose="020B0604020202020204" pitchFamily="34" charset="0"/>
            </a:endParaRPr>
          </a:p>
        </p:txBody>
      </p:sp>
      <p:sp>
        <p:nvSpPr>
          <p:cNvPr id="27" name="Text 15"/>
          <p:cNvSpPr/>
          <p:nvPr/>
        </p:nvSpPr>
        <p:spPr>
          <a:xfrm>
            <a:off x="1047750" y="7439025"/>
            <a:ext cx="9525000" cy="914400"/>
          </a:xfrm>
          <a:prstGeom prst="rect">
            <a:avLst/>
          </a:prstGeom>
          <a:noFill/>
        </p:spPr>
        <p:txBody>
          <a:bodyPr wrap="square" rtlCol="0" anchor="ctr"/>
          <a:lstStyle/>
          <a:p>
            <a:pPr marL="0" indent="0" algn="l">
              <a:buNone/>
            </a:pPr>
            <a:r>
              <a:rPr lang="en-US" sz="4800" b="1" dirty="0">
                <a:solidFill>
                  <a:srgbClr val="FFFFFF"/>
                </a:solidFill>
                <a:latin typeface="Arial" panose="020B0604020202020204" pitchFamily="34" charset="0"/>
                <a:ea typeface="Inter" pitchFamily="34" charset="-122"/>
                <a:cs typeface="Arial" panose="020B0604020202020204" pitchFamily="34" charset="0"/>
              </a:rPr>
              <a:t>Predict. Prioritize. Prevent.</a:t>
            </a:r>
            <a:endParaRPr lang="en-US" sz="4800" dirty="0">
              <a:latin typeface="Arial" panose="020B0604020202020204" pitchFamily="34" charset="0"/>
              <a:cs typeface="Arial" panose="020B0604020202020204" pitchFamily="34" charset="0"/>
            </a:endParaRPr>
          </a:p>
        </p:txBody>
      </p:sp>
      <p:pic>
        <p:nvPicPr>
          <p:cNvPr id="28" name="Image 10" descr="preencoded.png"/>
          <p:cNvPicPr>
            <a:picLocks noChangeAspect="1"/>
          </p:cNvPicPr>
          <p:nvPr/>
        </p:nvPicPr>
        <p:blipFill>
          <a:blip r:embed="rId6"/>
          <a:stretch>
            <a:fillRect/>
          </a:stretch>
        </p:blipFill>
        <p:spPr>
          <a:xfrm>
            <a:off x="1047750" y="8382000"/>
            <a:ext cx="857250" cy="57150"/>
          </a:xfrm>
          <a:prstGeom prst="rect">
            <a:avLst/>
          </a:prstGeom>
        </p:spPr>
      </p:pic>
      <p:sp>
        <p:nvSpPr>
          <p:cNvPr id="29" name="Text 16"/>
          <p:cNvSpPr/>
          <p:nvPr/>
        </p:nvSpPr>
        <p:spPr>
          <a:xfrm>
            <a:off x="1047750" y="8667750"/>
            <a:ext cx="9525000" cy="314325"/>
          </a:xfrm>
          <a:prstGeom prst="rect">
            <a:avLst/>
          </a:prstGeom>
          <a:noFill/>
        </p:spPr>
        <p:txBody>
          <a:bodyPr wrap="square" rtlCol="0" anchor="ctr"/>
          <a:lstStyle/>
          <a:p>
            <a:pPr marL="0" indent="0" algn="l">
              <a:buNone/>
            </a:pPr>
            <a:r>
              <a:rPr lang="en-US" sz="1650" dirty="0">
                <a:solidFill>
                  <a:srgbClr val="C9DDFF"/>
                </a:solidFill>
                <a:latin typeface="Arial" panose="020B0604020202020204" pitchFamily="34" charset="0"/>
                <a:ea typeface="Inter" pitchFamily="34" charset="-122"/>
                <a:cs typeface="Arial" panose="020B0604020202020204" pitchFamily="34" charset="0"/>
              </a:rPr>
              <a:t>Charusat University  |  IBM Bob AI Hackathon 2026</a:t>
            </a:r>
            <a:endParaRPr lang="en-US" sz="1650" dirty="0">
              <a:latin typeface="Arial" panose="020B0604020202020204" pitchFamily="34" charset="0"/>
              <a:cs typeface="Arial" panose="020B0604020202020204" pitchFamily="34" charset="0"/>
            </a:endParaRPr>
          </a:p>
        </p:txBody>
      </p:sp>
      <p:sp>
        <p:nvSpPr>
          <p:cNvPr id="30" name="Text 17"/>
          <p:cNvSpPr/>
          <p:nvPr/>
        </p:nvSpPr>
        <p:spPr>
          <a:xfrm>
            <a:off x="1333500" y="5000625"/>
            <a:ext cx="3429000" cy="257175"/>
          </a:xfrm>
          <a:prstGeom prst="rect">
            <a:avLst/>
          </a:prstGeom>
          <a:noFill/>
        </p:spPr>
        <p:txBody>
          <a:bodyPr wrap="square" rtlCol="0" anchor="ctr"/>
          <a:lstStyle/>
          <a:p>
            <a:pPr marL="0" indent="0" algn="l">
              <a:lnSpc>
                <a:spcPct val="135000"/>
              </a:lnSpc>
              <a:buNone/>
            </a:pPr>
            <a:r>
              <a:rPr lang="en-US" sz="1500" dirty="0">
                <a:solidFill>
                  <a:srgbClr val="21272A"/>
                </a:solidFill>
                <a:latin typeface="Arial" panose="020B0604020202020204" pitchFamily="34" charset="0"/>
                <a:ea typeface="Inter" pitchFamily="34" charset="-122"/>
                <a:cs typeface="Arial" panose="020B0604020202020204" pitchFamily="34" charset="0"/>
              </a:rPr>
              <a:t>Team Lead · Backend + Risk Engine</a:t>
            </a:r>
            <a:endParaRPr lang="en-US" sz="1500" dirty="0">
              <a:latin typeface="Arial" panose="020B0604020202020204" pitchFamily="34" charset="0"/>
              <a:cs typeface="Arial" panose="020B0604020202020204" pitchFamily="34" charset="0"/>
            </a:endParaRPr>
          </a:p>
        </p:txBody>
      </p:sp>
      <p:sp>
        <p:nvSpPr>
          <p:cNvPr id="31" name="Text 18"/>
          <p:cNvSpPr/>
          <p:nvPr/>
        </p:nvSpPr>
        <p:spPr>
          <a:xfrm>
            <a:off x="5524500" y="5000625"/>
            <a:ext cx="3429000" cy="257175"/>
          </a:xfrm>
          <a:prstGeom prst="rect">
            <a:avLst/>
          </a:prstGeom>
          <a:noFill/>
        </p:spPr>
        <p:txBody>
          <a:bodyPr wrap="square" rtlCol="0" anchor="ctr"/>
          <a:lstStyle/>
          <a:p>
            <a:pPr marL="0" indent="0" algn="l">
              <a:lnSpc>
                <a:spcPct val="135000"/>
              </a:lnSpc>
              <a:buNone/>
            </a:pPr>
            <a:r>
              <a:rPr lang="en-US" sz="1500" dirty="0">
                <a:solidFill>
                  <a:srgbClr val="21272A"/>
                </a:solidFill>
                <a:latin typeface="Arial" panose="020B0604020202020204" pitchFamily="34" charset="0"/>
                <a:ea typeface="Inter" pitchFamily="34" charset="-122"/>
                <a:cs typeface="Arial" panose="020B0604020202020204" pitchFamily="34" charset="0"/>
              </a:rPr>
              <a:t>Frontend Dashboard + Charts</a:t>
            </a:r>
            <a:endParaRPr lang="en-US" sz="1500" dirty="0">
              <a:latin typeface="Arial" panose="020B0604020202020204" pitchFamily="34" charset="0"/>
              <a:cs typeface="Arial" panose="020B0604020202020204" pitchFamily="34" charset="0"/>
            </a:endParaRPr>
          </a:p>
        </p:txBody>
      </p:sp>
      <p:sp>
        <p:nvSpPr>
          <p:cNvPr id="32" name="Text 19"/>
          <p:cNvSpPr/>
          <p:nvPr/>
        </p:nvSpPr>
        <p:spPr>
          <a:xfrm>
            <a:off x="9715500" y="5000625"/>
            <a:ext cx="3429000" cy="257175"/>
          </a:xfrm>
          <a:prstGeom prst="rect">
            <a:avLst/>
          </a:prstGeom>
          <a:noFill/>
        </p:spPr>
        <p:txBody>
          <a:bodyPr wrap="square" rtlCol="0" anchor="ctr"/>
          <a:lstStyle/>
          <a:p>
            <a:pPr marL="0" indent="0" algn="l">
              <a:lnSpc>
                <a:spcPct val="135000"/>
              </a:lnSpc>
              <a:buNone/>
            </a:pPr>
            <a:r>
              <a:rPr lang="en-US" sz="1500" dirty="0">
                <a:solidFill>
                  <a:srgbClr val="21272A"/>
                </a:solidFill>
                <a:latin typeface="Arial" panose="020B0604020202020204" pitchFamily="34" charset="0"/>
                <a:ea typeface="Inter" pitchFamily="34" charset="-122"/>
                <a:cs typeface="Arial" panose="020B0604020202020204" pitchFamily="34" charset="0"/>
              </a:rPr>
              <a:t>Bob Integration + Prompts</a:t>
            </a:r>
            <a:endParaRPr lang="en-US" sz="1500" dirty="0">
              <a:latin typeface="Arial" panose="020B0604020202020204" pitchFamily="34" charset="0"/>
              <a:cs typeface="Arial" panose="020B0604020202020204" pitchFamily="34" charset="0"/>
            </a:endParaRPr>
          </a:p>
        </p:txBody>
      </p:sp>
      <p:sp>
        <p:nvSpPr>
          <p:cNvPr id="33" name="Text 20"/>
          <p:cNvSpPr/>
          <p:nvPr/>
        </p:nvSpPr>
        <p:spPr>
          <a:xfrm>
            <a:off x="13906500" y="5000625"/>
            <a:ext cx="3048000" cy="257175"/>
          </a:xfrm>
          <a:prstGeom prst="rect">
            <a:avLst/>
          </a:prstGeom>
          <a:noFill/>
        </p:spPr>
        <p:txBody>
          <a:bodyPr wrap="square" rtlCol="0" anchor="ctr"/>
          <a:lstStyle/>
          <a:p>
            <a:pPr marL="0" indent="0" algn="l">
              <a:lnSpc>
                <a:spcPct val="135000"/>
              </a:lnSpc>
              <a:buNone/>
            </a:pPr>
            <a:r>
              <a:rPr lang="en-US" sz="1500" dirty="0">
                <a:solidFill>
                  <a:srgbClr val="21272A"/>
                </a:solidFill>
                <a:latin typeface="Arial" panose="020B0604020202020204" pitchFamily="34" charset="0"/>
                <a:ea typeface="Inter" pitchFamily="34" charset="-122"/>
                <a:cs typeface="Arial" panose="020B0604020202020204" pitchFamily="34" charset="0"/>
              </a:rPr>
              <a:t>Data Generator + Testing</a:t>
            </a:r>
            <a:endParaRPr lang="en-US" sz="1500" dirty="0">
              <a:latin typeface="Arial" panose="020B0604020202020204" pitchFamily="34" charset="0"/>
              <a:cs typeface="Arial" panose="020B0604020202020204" pitchFamily="34" charset="0"/>
            </a:endParaRPr>
          </a:p>
        </p:txBody>
      </p:sp>
      <p:sp>
        <p:nvSpPr>
          <p:cNvPr id="34" name="Text 21"/>
          <p:cNvSpPr/>
          <p:nvPr/>
        </p:nvSpPr>
        <p:spPr>
          <a:xfrm>
            <a:off x="1047750" y="6172200"/>
            <a:ext cx="16192500" cy="1123950"/>
          </a:xfrm>
          <a:prstGeom prst="rect">
            <a:avLst/>
          </a:prstGeom>
          <a:noFill/>
        </p:spPr>
        <p:txBody>
          <a:bodyPr wrap="square" rtlCol="0" anchor="ctr"/>
          <a:lstStyle/>
          <a:p>
            <a:pPr marL="0" indent="0" algn="l">
              <a:lnSpc>
                <a:spcPct val="140000"/>
              </a:lnSpc>
              <a:buNone/>
            </a:pPr>
            <a:r>
              <a:rPr lang="en-US" sz="2100" dirty="0">
                <a:solidFill>
                  <a:srgbClr val="C9DDFF"/>
                </a:solidFill>
                <a:latin typeface="Arial" panose="020B0604020202020204" pitchFamily="34" charset="0"/>
                <a:ea typeface="Inter" pitchFamily="34" charset="-122"/>
                <a:cs typeface="Arial" panose="020B0604020202020204" pitchFamily="34" charset="0"/>
              </a:rPr>
              <a:t>GridAdvisor helps electricity utilities move from reactive to predictive maintenance. By combining sensor data, weather information, incident history, risk scoring, crew planning, and IBM Bob AI, our platform helps operators identify problems earlier and take the right action faster.</a:t>
            </a:r>
            <a:endParaRPr lang="en-US" sz="2100" dirty="0">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HP Simplified H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HP Simplified H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HP Simplified H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4218</Words>
  <Application>WPS Presentation</Application>
  <PresentationFormat>On-screen Show (16:9)</PresentationFormat>
  <Paragraphs>270</Paragraphs>
  <Slides>8</Slides>
  <Notes>8</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8</vt:i4>
      </vt:variant>
    </vt:vector>
  </HeadingPairs>
  <TitlesOfParts>
    <vt:vector size="25" baseType="lpstr">
      <vt:lpstr>Arial</vt:lpstr>
      <vt:lpstr>SimSun</vt:lpstr>
      <vt:lpstr>Wingdings</vt:lpstr>
      <vt:lpstr>Inter</vt:lpstr>
      <vt:lpstr>Segoe Print</vt:lpstr>
      <vt:lpstr>Inter</vt:lpstr>
      <vt:lpstr>Inter</vt:lpstr>
      <vt:lpstr>Open Sans</vt:lpstr>
      <vt:lpstr>Open Sans</vt:lpstr>
      <vt:lpstr>Open Sans</vt:lpstr>
      <vt:lpstr>Calibri</vt:lpstr>
      <vt:lpstr>Microsoft YaHei</vt:lpstr>
      <vt:lpstr>Arial Unicode MS</vt:lpstr>
      <vt:lpstr>MingLiU-ExtB</vt:lpstr>
      <vt:lpstr>HP Simplified Hans</vt:lpstr>
      <vt:lpstr>Gabriola</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54aabf0f-fe5d-4b54-806a-08ac1e2df7d2</dc:title>
  <dc:creator>Design Export</dc:creator>
  <dc:subject>Presentation Export</dc:subject>
  <cp:lastModifiedBy>Manish Patel</cp:lastModifiedBy>
  <cp:revision>3</cp:revision>
  <dcterms:created xsi:type="dcterms:W3CDTF">2026-09-15T10:23:00Z</dcterms:created>
  <dcterms:modified xsi:type="dcterms:W3CDTF">2026-09-15T10:51:41Z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61F8441BD41E45B58A3A68EA31EF5FF2_12</vt:lpwstr>
  </property>
</Properties>
</file>