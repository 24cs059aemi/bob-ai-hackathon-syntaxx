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50292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ptos"/>
              </a:defRPr>
            </a:pPr>
            <a:r>
              <a:t>IBM BOB AI INNOVATION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987552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"/>
              </a:defRPr>
            </a:pPr>
            <a:r>
              <a:t>Predict failures before the outage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365760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900" b="1">
                <a:solidFill>
                  <a:srgbClr val="B4C2D6"/>
                </a:solidFill>
                <a:latin typeface="Aptos"/>
              </a:defRPr>
            </a:pPr>
            <a:r>
              <a:t>GRIDADVISOR  /  SYNTAXX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858000" cy="8229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4600" b="1">
                <a:solidFill>
                  <a:srgbClr val="F8FAFC"/>
                </a:solidFill>
                <a:latin typeface="Aptos"/>
              </a:defRPr>
            </a:pPr>
            <a:r>
              <a:t>GridAdvisor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6858000" cy="7315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2300" b="1">
                <a:solidFill>
                  <a:srgbClr val="0EA5E9"/>
                </a:solidFill>
                <a:latin typeface="Aptos"/>
              </a:defRPr>
            </a:pPr>
            <a:r>
              <a:t>Power Outage Prediction &amp; Grid Equipment Failure Advisor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585216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800" b="0">
                <a:solidFill>
                  <a:srgbClr val="B4C2D6"/>
                </a:solidFill>
                <a:latin typeface="Aptos"/>
              </a:defRPr>
            </a:pPr>
            <a:r>
              <a:t>An AI-powered operational intelligence platform for electricity utilities.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828800"/>
            <a:ext cx="3749039" cy="1508760"/>
          </a:xfrm>
          <a:prstGeom prst="roundRect">
            <a:avLst/>
          </a:prstGeom>
          <a:solidFill>
            <a:srgbClr val="14253F"/>
          </a:solidFill>
          <a:ln>
            <a:solidFill>
              <a:srgbClr val="30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43800" y="1828800"/>
            <a:ext cx="73152" cy="1508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011680"/>
            <a:ext cx="3337559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TEAM SYNTAXX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450592"/>
            <a:ext cx="3337559" cy="777239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300" b="0">
                <a:solidFill>
                  <a:srgbClr val="B4C2D6"/>
                </a:solidFill>
                <a:latin typeface="Aptos"/>
              </a:defRPr>
            </a:pPr>
            <a:r>
              <a:t>Anshi Ladani  |  Aemi Patel  |  Suyanshi Patel  |  Drashti Patel</a:t>
            </a:r>
            <a:br/>
            <a:r>
              <a:t>Track: AI  ·  CHARUSAT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657600"/>
            <a:ext cx="3749039" cy="960120"/>
          </a:xfrm>
          <a:prstGeom prst="roundRect">
            <a:avLst/>
          </a:prstGeom>
          <a:solidFill>
            <a:srgbClr val="14253F"/>
          </a:solidFill>
          <a:ln>
            <a:solidFill>
              <a:srgbClr val="30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43800" y="3657600"/>
            <a:ext cx="73152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840480"/>
            <a:ext cx="3337559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LIVE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279392"/>
            <a:ext cx="3337559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300" b="0">
                <a:solidFill>
                  <a:srgbClr val="B4C2D6"/>
                </a:solidFill>
                <a:latin typeface="Aptos"/>
              </a:defRPr>
            </a:pPr>
            <a:r>
              <a:t>grid-advisor-yipp.onrender.com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27080" y="384048"/>
            <a:ext cx="6400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>
              <a:defRPr sz="1400" b="1">
                <a:solidFill>
                  <a:srgbClr val="0EA5E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11480"/>
            <a:ext cx="50292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ptos"/>
              </a:defRPr>
            </a:pPr>
            <a:r>
              <a:t>01 /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987552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"/>
              </a:defRPr>
            </a:pPr>
            <a:r>
              <a:t>The grid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365760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900" b="1">
                <a:solidFill>
                  <a:srgbClr val="B4C2D6"/>
                </a:solidFill>
                <a:latin typeface="Aptos"/>
              </a:defRPr>
            </a:pPr>
            <a:r>
              <a:t>GRIDADVISOR  /  SYNTAXX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640080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2500" b="1">
                <a:solidFill>
                  <a:srgbClr val="0EA5E9"/>
                </a:solidFill>
                <a:latin typeface="Aptos"/>
              </a:defRPr>
            </a:pPr>
            <a:r>
              <a:t>Failures are often discovered after they become outages.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423160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331720"/>
            <a:ext cx="5760720" cy="4572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Aptos"/>
              </a:defRPr>
            </a:pPr>
            <a:r>
              <a:t>Transformers and substations generate complex health signals.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081527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990087"/>
            <a:ext cx="5760720" cy="4572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Aptos"/>
              </a:defRPr>
            </a:pPr>
            <a:r>
              <a:t>Sensor, weather, and incident data is difficult to analyse together.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739896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648456"/>
            <a:ext cx="5760720" cy="4572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Aptos"/>
              </a:defRPr>
            </a:pPr>
            <a:r>
              <a:t>Manual inspection does not clearly show what must be fixed first.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398264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306824"/>
            <a:ext cx="5760720" cy="4572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800" b="0">
                <a:solidFill>
                  <a:srgbClr val="F8FAFC"/>
                </a:solidFill>
                <a:latin typeface="Aptos"/>
              </a:defRPr>
            </a:pPr>
            <a:r>
              <a:t>One failure can interrupt service for thousands of customers.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874519"/>
            <a:ext cx="3840480" cy="1828800"/>
          </a:xfrm>
          <a:prstGeom prst="roundRect">
            <a:avLst/>
          </a:prstGeom>
          <a:solidFill>
            <a:srgbClr val="14253F"/>
          </a:solidFill>
          <a:ln>
            <a:solidFill>
              <a:srgbClr val="30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1874519"/>
            <a:ext cx="73152" cy="1828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2057400"/>
            <a:ext cx="342900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THE OPPORTUNITY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496312"/>
            <a:ext cx="3429000" cy="10972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300" b="0">
                <a:solidFill>
                  <a:srgbClr val="B4C2D6"/>
                </a:solidFill>
                <a:latin typeface="Aptos"/>
              </a:defRPr>
            </a:pPr>
            <a:r>
              <a:t>Move from reactive maintenance to predictive, prioritised action before equipment fails.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27080" y="384048"/>
            <a:ext cx="6400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>
              <a:defRPr sz="1400" b="1">
                <a:solidFill>
                  <a:srgbClr val="0EA5E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11480"/>
            <a:ext cx="50292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ptos"/>
              </a:defRPr>
            </a:pPr>
            <a:r>
              <a:t>02 /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987552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"/>
              </a:defRPr>
            </a:pPr>
            <a:r>
              <a:t>One risk picture for every asset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365760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900" b="1">
                <a:solidFill>
                  <a:srgbClr val="B4C2D6"/>
                </a:solidFill>
                <a:latin typeface="Aptos"/>
              </a:defRPr>
            </a:pPr>
            <a:r>
              <a:t>GRIDADVISOR  /  SYNTAXX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777240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2300" b="1">
                <a:solidFill>
                  <a:srgbClr val="0EA5E9"/>
                </a:solidFill>
                <a:latin typeface="Aptos"/>
              </a:defRPr>
            </a:pPr>
            <a:r>
              <a:t>GridAdvisor turns raw grid signals into a clear action plan.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40280"/>
            <a:ext cx="2560320" cy="1645920"/>
          </a:xfrm>
          <a:prstGeom prst="roundRect">
            <a:avLst/>
          </a:prstGeom>
          <a:solidFill>
            <a:srgbClr val="14253F"/>
          </a:solidFill>
          <a:ln>
            <a:solidFill>
              <a:srgbClr val="30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240280"/>
            <a:ext cx="73152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23160"/>
            <a:ext cx="2148839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62072"/>
            <a:ext cx="2148839" cy="9144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300" b="0">
                <a:solidFill>
                  <a:srgbClr val="B4C2D6"/>
                </a:solidFill>
                <a:latin typeface="Aptos"/>
              </a:defRPr>
            </a:pPr>
            <a:r>
              <a:t>Temperature, vibration, partial discharge, oil quality, load, weather, and incidents.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240280"/>
            <a:ext cx="2560320" cy="1645920"/>
          </a:xfrm>
          <a:prstGeom prst="roundRect">
            <a:avLst/>
          </a:prstGeom>
          <a:solidFill>
            <a:srgbClr val="14253F"/>
          </a:solidFill>
          <a:ln>
            <a:solidFill>
              <a:srgbClr val="30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80" y="2240280"/>
            <a:ext cx="73152" cy="1645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423160"/>
            <a:ext cx="2148839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862072"/>
            <a:ext cx="2148839" cy="9144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300" b="0">
                <a:solidFill>
                  <a:srgbClr val="B4C2D6"/>
                </a:solidFill>
                <a:latin typeface="Aptos"/>
              </a:defRPr>
            </a:pPr>
            <a:r>
              <a:t>A transparent composite risk formula produces a 0–100 score.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240280"/>
            <a:ext cx="2560320" cy="1645920"/>
          </a:xfrm>
          <a:prstGeom prst="roundRect">
            <a:avLst/>
          </a:prstGeom>
          <a:solidFill>
            <a:srgbClr val="14253F"/>
          </a:solidFill>
          <a:ln>
            <a:solidFill>
              <a:srgbClr val="30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240280"/>
            <a:ext cx="73152" cy="1645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423160"/>
            <a:ext cx="2148839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PRIORITISE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862072"/>
            <a:ext cx="2148839" cy="9144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300" b="0">
                <a:solidFill>
                  <a:srgbClr val="B4C2D6"/>
                </a:solidFill>
                <a:latin typeface="Aptos"/>
              </a:defRPr>
            </a:pPr>
            <a:r>
              <a:t>Assets and zones are ranked from Critical to Low using risk and grid impact.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2240280"/>
            <a:ext cx="2560320" cy="1645920"/>
          </a:xfrm>
          <a:prstGeom prst="roundRect">
            <a:avLst/>
          </a:prstGeom>
          <a:solidFill>
            <a:srgbClr val="14253F"/>
          </a:solidFill>
          <a:ln>
            <a:solidFill>
              <a:srgbClr val="30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2240280"/>
            <a:ext cx="73152" cy="1645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2423160"/>
            <a:ext cx="2148839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862072"/>
            <a:ext cx="2148839" cy="9144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300" b="0">
                <a:solidFill>
                  <a:srgbClr val="B4C2D6"/>
                </a:solidFill>
                <a:latin typeface="Aptos"/>
              </a:defRPr>
            </a:pPr>
            <a:r>
              <a:t>Maintenance deadlines, crew assignments, and Bob AI explanations.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00600"/>
            <a:ext cx="9875520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2400" b="1">
                <a:solidFill>
                  <a:srgbClr val="F8FAFC"/>
                </a:solidFill>
                <a:latin typeface="Aptos"/>
              </a:defRPr>
            </a:pPr>
            <a:r>
              <a:t>Result: operators know where to act, why it matters, and what to do next.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27080" y="384048"/>
            <a:ext cx="6400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>
              <a:defRPr sz="1400" b="1">
                <a:solidFill>
                  <a:srgbClr val="0EA5E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11480"/>
            <a:ext cx="50292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ptos"/>
              </a:defRPr>
            </a:pPr>
            <a:r>
              <a:t>03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987552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"/>
              </a:defRPr>
            </a:pPr>
            <a:r>
              <a:t>How the platform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365760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900" b="1">
                <a:solidFill>
                  <a:srgbClr val="B4C2D6"/>
                </a:solidFill>
                <a:latin typeface="Aptos"/>
              </a:defRPr>
            </a:pPr>
            <a:r>
              <a:t>GRIDADVISOR  /  SYNTAXX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148840" cy="1554480"/>
          </a:xfrm>
          <a:prstGeom prst="roundRect">
            <a:avLst/>
          </a:prstGeom>
          <a:solidFill>
            <a:srgbClr val="14253F"/>
          </a:solidFill>
          <a:ln>
            <a:solidFill>
              <a:srgbClr val="30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73152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17373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50592"/>
            <a:ext cx="1737360" cy="822959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300" b="0">
                <a:solidFill>
                  <a:srgbClr val="B4C2D6"/>
                </a:solidFill>
                <a:latin typeface="Aptos"/>
              </a:defRPr>
            </a:pPr>
            <a:r>
              <a:t>Synthetic sensor readings</a:t>
            </a:r>
            <a:br/>
            <a:r>
              <a:t>Weather forecasts</a:t>
            </a:r>
            <a:br/>
            <a:r>
              <a:t>Incident history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828800"/>
            <a:ext cx="2148840" cy="1554480"/>
          </a:xfrm>
          <a:prstGeom prst="roundRect">
            <a:avLst/>
          </a:prstGeom>
          <a:solidFill>
            <a:srgbClr val="14253F"/>
          </a:solidFill>
          <a:ln>
            <a:solidFill>
              <a:srgbClr val="30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1828800"/>
            <a:ext cx="73152" cy="1554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2011680"/>
            <a:ext cx="17373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50592"/>
            <a:ext cx="1737360" cy="822959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300" b="0">
                <a:solidFill>
                  <a:srgbClr val="B4C2D6"/>
                </a:solidFill>
                <a:latin typeface="Aptos"/>
              </a:defRPr>
            </a:pPr>
            <a:r>
              <a:t>REST JSON API</a:t>
            </a:r>
            <a:br/>
            <a:r>
              <a:t>Data access</a:t>
            </a:r>
            <a:br/>
            <a:r>
              <a:t>Decision services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1828800"/>
            <a:ext cx="2468880" cy="1554480"/>
          </a:xfrm>
          <a:prstGeom prst="roundRect">
            <a:avLst/>
          </a:prstGeom>
          <a:solidFill>
            <a:srgbClr val="14253F"/>
          </a:solidFill>
          <a:ln>
            <a:solidFill>
              <a:srgbClr val="30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77840" y="1828800"/>
            <a:ext cx="73152" cy="1554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2011680"/>
            <a:ext cx="205740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2450592"/>
            <a:ext cx="2057400" cy="822959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300" b="0">
                <a:solidFill>
                  <a:srgbClr val="B4C2D6"/>
                </a:solidFill>
                <a:latin typeface="Aptos"/>
              </a:defRPr>
            </a:pPr>
            <a:r>
              <a:t>Risk scorer</a:t>
            </a:r>
            <a:br/>
            <a:r>
              <a:t>Asset ranker</a:t>
            </a:r>
            <a:br/>
            <a:r>
              <a:t>Maintenance + crew engines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828800"/>
            <a:ext cx="2468880" cy="1554480"/>
          </a:xfrm>
          <a:prstGeom prst="roundRect">
            <a:avLst/>
          </a:prstGeom>
          <a:solidFill>
            <a:srgbClr val="14253F"/>
          </a:solidFill>
          <a:ln>
            <a:solidFill>
              <a:srgbClr val="30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1828800"/>
            <a:ext cx="73152" cy="1554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2011680"/>
            <a:ext cx="205740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BOB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450592"/>
            <a:ext cx="2057400" cy="822959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300" b="0">
                <a:solidFill>
                  <a:srgbClr val="B4C2D6"/>
                </a:solidFill>
                <a:latin typeface="Aptos"/>
              </a:defRPr>
            </a:pPr>
            <a:r>
              <a:t>Operational briefing</a:t>
            </a:r>
            <a:br/>
            <a:r>
              <a:t>Asset explanation</a:t>
            </a:r>
            <a:br/>
            <a:r>
              <a:t>watsonx.ai Granite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657600"/>
            <a:ext cx="548640" cy="4572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2800" b="1">
                <a:solidFill>
                  <a:srgbClr val="0EA5E9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3657600"/>
            <a:ext cx="548640" cy="4572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2800" b="1">
                <a:solidFill>
                  <a:srgbClr val="0EA5E9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657600"/>
            <a:ext cx="548640" cy="4572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2800" b="1">
                <a:solidFill>
                  <a:srgbClr val="0EA5E9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251960"/>
            <a:ext cx="9966960" cy="6400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2200" b="1">
                <a:solidFill>
                  <a:srgbClr val="F8FAFC"/>
                </a:solidFill>
                <a:latin typeface="Aptos"/>
              </a:defRPr>
            </a:pPr>
            <a:r>
              <a:t>React + TypeScript dashboard  →  risk table  →  zone map  →  action tabs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303520"/>
            <a:ext cx="978408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1600" b="0">
                <a:solidFill>
                  <a:srgbClr val="B4C2D6"/>
                </a:solidFill>
                <a:latin typeface="Aptos"/>
              </a:defRPr>
            </a:pPr>
            <a:r>
              <a:t>SQLite today  |  PostgreSQL-ready  |  Docker + Render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27080" y="384048"/>
            <a:ext cx="6400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>
              <a:defRPr sz="1400" b="1">
                <a:solidFill>
                  <a:srgbClr val="0EA5E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11480"/>
            <a:ext cx="50292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ptos"/>
              </a:defRPr>
            </a:pPr>
            <a:r>
              <a:t>04 /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987552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"/>
              </a:defRPr>
            </a:pPr>
            <a:r>
              <a:t>The operator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365760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900" b="1">
                <a:solidFill>
                  <a:srgbClr val="B4C2D6"/>
                </a:solidFill>
                <a:latin typeface="Aptos"/>
              </a:defRPr>
            </a:pPr>
            <a:r>
              <a:t>GRIDADVISOR  /  SYNTAXX</a:t>
            </a:r>
          </a:p>
        </p:txBody>
      </p:sp>
      <p:pic>
        <p:nvPicPr>
          <p:cNvPr id="7" name="Picture 6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6583680" cy="4480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600200"/>
            <a:ext cx="3474720" cy="2331720"/>
          </a:xfrm>
          <a:prstGeom prst="roundRect">
            <a:avLst/>
          </a:prstGeom>
          <a:solidFill>
            <a:srgbClr val="14253F"/>
          </a:solidFill>
          <a:ln>
            <a:solidFill>
              <a:srgbClr val="30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600200"/>
            <a:ext cx="73152" cy="2331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783080"/>
            <a:ext cx="3063239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221992"/>
            <a:ext cx="3063239" cy="1600199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300" b="0">
                <a:solidFill>
                  <a:srgbClr val="B4C2D6"/>
                </a:solidFill>
                <a:latin typeface="Aptos"/>
              </a:defRPr>
            </a:pPr>
            <a:r>
              <a:t>• Risk summary by severity</a:t>
            </a:r>
            <a:br/>
            <a:r>
              <a:t>• Zone risk heatmap</a:t>
            </a:r>
            <a:br/>
            <a:r>
              <a:t>• Ranked assets</a:t>
            </a:r>
            <a:br/>
            <a:r>
              <a:t>• Filter by severity</a:t>
            </a:r>
            <a:br/>
            <a:r>
              <a:t>• View asset-level sensors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4343400"/>
            <a:ext cx="3474720" cy="8229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900" b="1">
                <a:solidFill>
                  <a:srgbClr val="F8FAFC"/>
                </a:solidFill>
                <a:latin typeface="Aptos"/>
              </a:defRPr>
            </a:pPr>
            <a:r>
              <a:t>The interface is designed for fast operational decisions, not raw data exploration.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27080" y="384048"/>
            <a:ext cx="6400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>
              <a:defRPr sz="1400" b="1">
                <a:solidFill>
                  <a:srgbClr val="0EA5E9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11480"/>
            <a:ext cx="50292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ptos"/>
              </a:defRPr>
            </a:pPr>
            <a:r>
              <a:t>05 /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987552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"/>
              </a:defRPr>
            </a:pPr>
            <a:r>
              <a:t>From risk score to field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365760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900" b="1">
                <a:solidFill>
                  <a:srgbClr val="B4C2D6"/>
                </a:solidFill>
                <a:latin typeface="Aptos"/>
              </a:defRPr>
            </a:pPr>
            <a:r>
              <a:t>GRIDADVISOR  /  SYNTAXX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3429000" cy="1554480"/>
          </a:xfrm>
          <a:prstGeom prst="roundRect">
            <a:avLst/>
          </a:prstGeom>
          <a:solidFill>
            <a:srgbClr val="14253F"/>
          </a:solidFill>
          <a:ln>
            <a:solidFill>
              <a:srgbClr val="30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554480"/>
            <a:ext cx="73152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30175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1  SENSOR 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76272"/>
            <a:ext cx="3017520" cy="822959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300" b="0">
                <a:solidFill>
                  <a:srgbClr val="B4C2D6"/>
                </a:solidFill>
                <a:latin typeface="Aptos"/>
              </a:defRPr>
            </a:pPr>
            <a:r>
              <a:t>Click View to inspect seven days of temperature, vibration, partial discharge, and oil quality trends.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429000" cy="1554480"/>
          </a:xfrm>
          <a:prstGeom prst="roundRect">
            <a:avLst/>
          </a:prstGeom>
          <a:solidFill>
            <a:srgbClr val="14253F"/>
          </a:solidFill>
          <a:ln>
            <a:solidFill>
              <a:srgbClr val="30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73152" cy="1554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737360"/>
            <a:ext cx="30175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2  MAINTENANCE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176272"/>
            <a:ext cx="3017520" cy="822959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300" b="0">
                <a:solidFill>
                  <a:srgbClr val="B4C2D6"/>
                </a:solidFill>
                <a:latin typeface="Aptos"/>
              </a:defRPr>
            </a:pPr>
            <a:r>
              <a:t>Every risky asset gets an action, deadline, skills, duration, and customer impact.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554480"/>
            <a:ext cx="3429000" cy="1554480"/>
          </a:xfrm>
          <a:prstGeom prst="roundRect">
            <a:avLst/>
          </a:prstGeom>
          <a:solidFill>
            <a:srgbClr val="14253F"/>
          </a:solidFill>
          <a:ln>
            <a:solidFill>
              <a:srgbClr val="30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554480"/>
            <a:ext cx="73152" cy="1554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737360"/>
            <a:ext cx="30175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3  CREW POSITIONING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76272"/>
            <a:ext cx="3017520" cy="822959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300" b="0">
                <a:solidFill>
                  <a:srgbClr val="B4C2D6"/>
                </a:solidFill>
                <a:latin typeface="Aptos"/>
              </a:defRPr>
            </a:pPr>
            <a:r>
              <a:t>Crews are matched by skill and proximity to reduce response time.</a:t>
            </a:r>
          </a:p>
        </p:txBody>
      </p:sp>
      <p:pic>
        <p:nvPicPr>
          <p:cNvPr id="19" name="Picture 18" descr="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657600"/>
            <a:ext cx="4754880" cy="2240280"/>
          </a:xfrm>
          <a:prstGeom prst="rect">
            <a:avLst/>
          </a:prstGeom>
        </p:spPr>
      </p:pic>
      <p:pic>
        <p:nvPicPr>
          <p:cNvPr id="20" name="Picture 19" descr="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657600"/>
            <a:ext cx="4754880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27080" y="384048"/>
            <a:ext cx="6400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>
              <a:defRPr sz="1400" b="1">
                <a:solidFill>
                  <a:srgbClr val="0EA5E9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11480"/>
            <a:ext cx="50292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ptos"/>
              </a:defRPr>
            </a:pPr>
            <a:r>
              <a:t>06 / IBM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987552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"/>
              </a:defRPr>
            </a:pPr>
            <a:r>
              <a:t>IBM Bob makes risk understandable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365760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900" b="1">
                <a:solidFill>
                  <a:srgbClr val="B4C2D6"/>
                </a:solidFill>
                <a:latin typeface="Aptos"/>
              </a:defRPr>
            </a:pPr>
            <a:r>
              <a:t>GRIDADVISOR  /  SYNTAXX</a:t>
            </a:r>
          </a:p>
        </p:txBody>
      </p:sp>
      <p:pic>
        <p:nvPicPr>
          <p:cNvPr id="7" name="Picture 6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492240" cy="4526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554480"/>
            <a:ext cx="3657600" cy="2834640"/>
          </a:xfrm>
          <a:prstGeom prst="roundRect">
            <a:avLst/>
          </a:prstGeom>
          <a:solidFill>
            <a:srgbClr val="14253F"/>
          </a:solidFill>
          <a:ln>
            <a:solidFill>
              <a:srgbClr val="30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554480"/>
            <a:ext cx="73152" cy="2834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737360"/>
            <a:ext cx="32461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WHAT BOB ADDS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176272"/>
            <a:ext cx="3246120" cy="21031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300" b="0">
                <a:solidFill>
                  <a:srgbClr val="B4C2D6"/>
                </a:solidFill>
                <a:latin typeface="Aptos"/>
              </a:defRPr>
            </a:pPr>
            <a:r>
              <a:t>• Plain-English operational briefing</a:t>
            </a:r>
            <a:br/>
            <a:r>
              <a:t>• Per-asset risk explanation</a:t>
            </a:r>
            <a:br/>
            <a:r>
              <a:t>• Recommended next action</a:t>
            </a:r>
            <a:br/>
            <a:r>
              <a:t>• watsonx.ai Granite integration</a:t>
            </a:r>
            <a:br/>
            <a:r>
              <a:t>• Rule-based fallback when credentials are unavailable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4846320"/>
            <a:ext cx="3566160" cy="6858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Aptos"/>
              </a:defRPr>
            </a:pPr>
            <a:r>
              <a:t>From technical signals to a decision an operator can act on in seconds.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27080" y="384048"/>
            <a:ext cx="6400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>
              <a:defRPr sz="1400" b="1">
                <a:solidFill>
                  <a:srgbClr val="0EA5E9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11480"/>
            <a:ext cx="50292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ptos"/>
              </a:defRPr>
            </a:pPr>
            <a:r>
              <a:t>07 /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987552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"/>
              </a:defRPr>
            </a:pPr>
            <a:r>
              <a:t>Predict earlier. Respond faster.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365760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900" b="1">
                <a:solidFill>
                  <a:srgbClr val="B4C2D6"/>
                </a:solidFill>
                <a:latin typeface="Aptos"/>
              </a:defRPr>
            </a:pPr>
            <a:r>
              <a:t>GRIDADVISOR  /  SYNTAXX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3291840" cy="2468880"/>
          </a:xfrm>
          <a:prstGeom prst="roundRect">
            <a:avLst/>
          </a:prstGeom>
          <a:solidFill>
            <a:srgbClr val="14253F"/>
          </a:solidFill>
          <a:ln>
            <a:solidFill>
              <a:srgbClr val="30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508760"/>
            <a:ext cx="73152" cy="2468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91639"/>
            <a:ext cx="28803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30552"/>
            <a:ext cx="2880360" cy="1737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300" b="0">
                <a:solidFill>
                  <a:srgbClr val="B4C2D6"/>
                </a:solidFill>
                <a:latin typeface="Aptos"/>
              </a:defRPr>
            </a:pPr>
            <a:r>
              <a:t>Earlier failure detection</a:t>
            </a:r>
            <a:br/>
            <a:r>
              <a:t>Faster maintenance decisions</a:t>
            </a:r>
            <a:br/>
            <a:r>
              <a:t>Better crew utilisation</a:t>
            </a:r>
            <a:br/>
            <a:r>
              <a:t>Reduced outage response time</a:t>
            </a:r>
            <a:br/>
            <a:r>
              <a:t>More customers protected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08760"/>
            <a:ext cx="3291840" cy="2468880"/>
          </a:xfrm>
          <a:prstGeom prst="roundRect">
            <a:avLst/>
          </a:prstGeom>
          <a:solidFill>
            <a:srgbClr val="14253F"/>
          </a:solidFill>
          <a:ln>
            <a:solidFill>
              <a:srgbClr val="30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508760"/>
            <a:ext cx="73152" cy="2468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691639"/>
            <a:ext cx="28803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PROTOTYPE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30552"/>
            <a:ext cx="2880360" cy="1737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300" b="0">
                <a:solidFill>
                  <a:srgbClr val="B4C2D6"/>
                </a:solidFill>
                <a:latin typeface="Aptos"/>
              </a:defRPr>
            </a:pPr>
            <a:r>
              <a:t>15 grid assets</a:t>
            </a:r>
            <a:br/>
            <a:r>
              <a:t>5 monitored zones</a:t>
            </a:r>
            <a:br/>
            <a:r>
              <a:t>Multiple sensor types</a:t>
            </a:r>
            <a:br/>
            <a:r>
              <a:t>Critical → Low ranking</a:t>
            </a:r>
            <a:br/>
            <a:r>
              <a:t>Live Render deployment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508760"/>
            <a:ext cx="3291840" cy="2468880"/>
          </a:xfrm>
          <a:prstGeom prst="roundRect">
            <a:avLst/>
          </a:prstGeom>
          <a:solidFill>
            <a:srgbClr val="14253F"/>
          </a:solidFill>
          <a:ln>
            <a:solidFill>
              <a:srgbClr val="30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508760"/>
            <a:ext cx="73152" cy="2468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691639"/>
            <a:ext cx="28803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t>TEAM SYNTAXX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30552"/>
            <a:ext cx="2880360" cy="1737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>
              <a:defRPr sz="1300" b="0">
                <a:solidFill>
                  <a:srgbClr val="B4C2D6"/>
                </a:solidFill>
                <a:latin typeface="Aptos"/>
              </a:defRPr>
            </a:pPr>
            <a:r>
              <a:t>Anshi Ladani — Team Lead</a:t>
            </a:r>
            <a:br/>
            <a:r>
              <a:t>Aemi Patel — Engineer</a:t>
            </a:r>
            <a:br/>
            <a:r>
              <a:t>Suyanshi Patel — Engineer</a:t>
            </a:r>
            <a:br/>
            <a:r>
              <a:t>Drashti Patel — Engineer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00600"/>
            <a:ext cx="1051560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3100" b="1">
                <a:solidFill>
                  <a:srgbClr val="F8FAFC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40680"/>
            <a:ext cx="1051560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1700" b="1">
                <a:solidFill>
                  <a:srgbClr val="0EA5E9"/>
                </a:solidFill>
                <a:latin typeface="Aptos"/>
              </a:defRPr>
            </a:pPr>
            <a:r>
              <a:t>Live demo: https://grid-advisor-yipp.onrender.com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